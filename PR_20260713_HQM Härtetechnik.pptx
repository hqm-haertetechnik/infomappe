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leitung &amp; Firmendaten" id="{5E4638FB-A11B-470B-A1B7-6426BE2F0FCD}">
          <p14:sldIdLst>
            <p14:sldId id="256"/>
            <p14:sldId id="257"/>
            <p14:sldId id="258"/>
          </p14:sldIdLst>
        </p14:section>
        <p14:section name="Portfolio" id="{73BCE40C-A4B0-4B8E-B169-0BC6EDE9BC3E}">
          <p14:sldIdLst>
            <p14:sldId id="259"/>
          </p14:sldIdLst>
        </p14:section>
        <p14:section name="Verfahren im Detail" id="{D0BDE22E-BCEF-433C-AE4F-A2D8B2B68120}">
          <p14:sldIdLst>
            <p14:sldId id="260"/>
            <p14:sldId id="273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Anlagenpark" id="{18B8769D-5F41-4A36-9EED-EBE74BB55EC8}">
          <p14:sldIdLst>
            <p14:sldId id="267"/>
          </p14:sldIdLst>
        </p14:section>
        <p14:section name="Qualität" id="{A70BD000-1AB0-449C-89F3-297417312D2B}">
          <p14:sldIdLst>
            <p14:sldId id="268"/>
          </p14:sldIdLst>
        </p14:section>
        <p14:section name="Nutzen &amp; Vertrauen" id="{FEB04491-9628-4F29-9966-66C2E9983606}">
          <p14:sldIdLst>
            <p14:sldId id="269"/>
            <p14:sldId id="270"/>
            <p14:sldId id="271"/>
          </p14:sldIdLst>
        </p14:section>
        <p14:section name="Abschluss &amp; Kontakte" id="{2E5AF0AF-14C9-44A4-B19D-E8C330211336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76" autoAdjust="0"/>
  </p:normalViewPr>
  <p:slideViewPr>
    <p:cSldViewPr snapToGrid="0" snapToObjects="1">
      <p:cViewPr varScale="1">
        <p:scale>
          <a:sx n="61" d="100"/>
          <a:sy n="61" d="100"/>
        </p:scale>
        <p:origin x="1038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8110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Kurzer, selbstbewusster Einstieg. HQM Härtetechnik als spezialisierter Wärmebehandlungspartner positionieren – prozesssicher, wiederholgenau, vertrauenswürdig.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Framing-Folie: die typischen Sorgen technischer Entscheider abholen, bevor wir über Leistungen sprechen. Keine erfundenen Zahlen – nur der Bedarf.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und glaubwürdig. Zwei Standorte, klare Zahlen. Nicht ausufern – Fakten sprechen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Überblick über das gesamte Verfahrensspektrum. Botschaft: nahezu jede Anforderung aus einer Hand. Details folgen.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beiden Kernverfahren für hochbeanspruchte Antriebs- und Fahrwerksteile. Die Kurve zeigt jeweils den Temperatur-Zeit-Verlauf.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15B1F-1DA1-852C-2F93-B3DE26015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092C8-2CD9-3EA2-E2D0-83949E6D3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AEBCAD-B8F4-E95E-BE58-E63C0DF57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beiden Kernverfahren für hochbeanspruchte Antriebs- und Fahrwerksteile. Die Kurve zeigt jeweils den Temperatur-Zeit-Verlauf.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6B048-E824-3456-B93C-18174EC005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36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Zwei Wege zur aufgekohlten Randschicht. Niederdruckaufkohlen ist das moderne, verzugsarme Vakuumverfahren – ein starkes Verkaufsargument.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Glühen als eigenes Kapitel: die gezielte Gefügeeinstellung. Die sechs Varianten zeigen die Bandbreite.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Niedertemperatur-Verfahren bei 500–585 °C: verzugsarm, ohne Abschrecken. Oxidieren meist als Nachbehandlung für Korrosionsschutz.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Vakuumhärten als Premium-Verfahren: blanke Oberfläche, kein Zunder, minimaler Verzug. Das Foto zeigt die Vakuumhärteanlage.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Aluminium wird nicht über Gefügeumwandlung, sondern durch Ausscheidungshärtung ausgehärtet. Eigene Anlage im Haus.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Mechanische Oberflächenbearbeitung: Festigkeitsstrahlen verfestigt, Reinigungsstrahlen säubert und entzundert. Kein thermischer Prozess.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Anlagenpark ist unser Beleg für Kapazität und Verfahrensbreite. Zahlen kurz nennen, Fotos wirken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Zertifizierungen und kundenspezifische Freigaben sind das Vertrauensfundament. IATF 16949 für Automotive, DIN 50001 für Energiemanagement.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Framing-Folie: technische Leistung in Kundenvorteile übersetzen. Von Leistungsaufzählung zu Nutzenargumenten.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Zielbranchen und Referenzkunden. Nur Kunden nennen, die freigegeben sind. Glaubwürdigkeit durch bekannte Namen.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Weg von der Anfrage bis zur Lieferung. Zeigt, dass HQM mitdenkt – technologische Beratung inklusive, nicht nur Ausführung.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Klarer Call-to-Action. Konkreten nächsten Schritt anbieten: Bemusterung, Werksbesuch oder Angebot. Ansprechpartner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qm-haertetechnik.de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D84FEBD9-3FCA-66B8-0643-A97D7FC21B7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2436">
              <a:alpha val="54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500" y="4898231"/>
            <a:ext cx="800100" cy="5715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38739EC5-6711-F2B6-F3F3-431D6A6D3E96}"/>
              </a:ext>
            </a:extLst>
          </p:cNvPr>
          <p:cNvSpPr/>
          <p:nvPr/>
        </p:nvSpPr>
        <p:spPr>
          <a:xfrm>
            <a:off x="0" y="-14945"/>
            <a:ext cx="18288000" cy="10301945"/>
          </a:xfrm>
          <a:prstGeom prst="rect">
            <a:avLst/>
          </a:prstGeom>
          <a:solidFill>
            <a:srgbClr val="122436">
              <a:alpha val="69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3"/>
          <p:cNvSpPr/>
          <p:nvPr/>
        </p:nvSpPr>
        <p:spPr>
          <a:xfrm>
            <a:off x="952500" y="5006852"/>
            <a:ext cx="12263438" cy="2836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6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für Wärmebehandlung und Werkstoffveredelung</a:t>
            </a:r>
            <a:endParaRPr lang="en-US" sz="6600" dirty="0"/>
          </a:p>
        </p:txBody>
      </p:sp>
      <p:sp>
        <p:nvSpPr>
          <p:cNvPr id="33" name="Text 4"/>
          <p:cNvSpPr/>
          <p:nvPr/>
        </p:nvSpPr>
        <p:spPr>
          <a:xfrm>
            <a:off x="952500" y="7465431"/>
            <a:ext cx="12846050" cy="1599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Prozesssichere, </a:t>
            </a:r>
            <a:r>
              <a:rPr lang="en-US" sz="3200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wiederholgenaue</a:t>
            </a:r>
            <a:r>
              <a:rPr lang="en-US" sz="3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Verfahren</a:t>
            </a:r>
            <a:r>
              <a:rPr lang="en-US" sz="3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für die anspruchsvollsten Bauteile Ihrer Branche.</a:t>
            </a:r>
            <a:endParaRPr lang="en-US" sz="3200" dirty="0"/>
          </a:p>
        </p:txBody>
      </p:sp>
      <p:sp>
        <p:nvSpPr>
          <p:cNvPr id="10" name="Text 0"/>
          <p:cNvSpPr/>
          <p:nvPr/>
        </p:nvSpPr>
        <p:spPr>
          <a:xfrm>
            <a:off x="952500" y="706881"/>
            <a:ext cx="2425700" cy="112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HQM</a:t>
            </a:r>
          </a:p>
        </p:txBody>
      </p:sp>
      <p:sp>
        <p:nvSpPr>
          <p:cNvPr id="11" name="Text 1"/>
          <p:cNvSpPr/>
          <p:nvPr/>
        </p:nvSpPr>
        <p:spPr>
          <a:xfrm>
            <a:off x="2488777" y="863199"/>
            <a:ext cx="6504304" cy="817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00" kern="0" spc="630" dirty="0">
                <a:solidFill>
                  <a:srgbClr val="7A8B95"/>
                </a:solidFill>
                <a:latin typeface="Arial" pitchFamily="34" charset="0"/>
                <a:cs typeface="Arial" pitchFamily="34" charset="-120"/>
              </a:rPr>
              <a:t>HÄRTETECHNIK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>
            <a:extLst>
              <a:ext uri="{FF2B5EF4-FFF2-40B4-BE49-F238E27FC236}">
                <a16:creationId xmlns:a16="http://schemas.microsoft.com/office/drawing/2014/main" id="{65590CA5-B810-AA7E-AA6D-6D0D2282BE20}"/>
              </a:ext>
            </a:extLst>
          </p:cNvPr>
          <p:cNvSpPr/>
          <p:nvPr/>
        </p:nvSpPr>
        <p:spPr>
          <a:xfrm>
            <a:off x="-8891" y="12255"/>
            <a:ext cx="18288000" cy="1028700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A4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IHRE AUSGANGSLAGE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0589" y="1554735"/>
            <a:ext cx="13129423" cy="107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Höchste Anforderungen an jedes einzelne Bauteil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887861"/>
            <a:ext cx="1157668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Entscheider erwarten heute mehr als nur gehärtete Bauteile – sie erwarten Verlässlichkeit in </a:t>
            </a:r>
            <a:r>
              <a:rPr lang="en-US" sz="2250" dirty="0" err="1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jedem</a:t>
            </a:r>
            <a:r>
              <a:rPr lang="en-US" sz="225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Detail.</a:t>
            </a:r>
            <a:endParaRPr lang="en-US" sz="2250" dirty="0"/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8CFE81AD-E9E8-E4CA-DA85-483065F26C78}"/>
              </a:ext>
            </a:extLst>
          </p:cNvPr>
          <p:cNvGrpSpPr/>
          <p:nvPr/>
        </p:nvGrpSpPr>
        <p:grpSpPr>
          <a:xfrm>
            <a:off x="910589" y="4771581"/>
            <a:ext cx="16466821" cy="3014265"/>
            <a:chOff x="949325" y="5497910"/>
            <a:chExt cx="16466821" cy="3014265"/>
          </a:xfrm>
        </p:grpSpPr>
        <p:sp>
          <p:nvSpPr>
            <p:cNvPr id="22" name="Shape 20"/>
            <p:cNvSpPr/>
            <p:nvPr/>
          </p:nvSpPr>
          <p:spPr>
            <a:xfrm>
              <a:off x="12077700" y="5497910"/>
              <a:ext cx="5257800" cy="3011091"/>
            </a:xfrm>
            <a:prstGeom prst="rect">
              <a:avLst/>
            </a:prstGeom>
            <a:solidFill>
              <a:srgbClr val="0E1E2E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Shape 4"/>
            <p:cNvSpPr/>
            <p:nvPr/>
          </p:nvSpPr>
          <p:spPr>
            <a:xfrm>
              <a:off x="949325" y="5501084"/>
              <a:ext cx="5257800" cy="3011091"/>
            </a:xfrm>
            <a:prstGeom prst="rect">
              <a:avLst/>
            </a:prstGeom>
            <a:solidFill>
              <a:srgbClr val="0E1E2E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Shape 6"/>
            <p:cNvSpPr/>
            <p:nvPr/>
          </p:nvSpPr>
          <p:spPr>
            <a:xfrm>
              <a:off x="949325" y="5501084"/>
              <a:ext cx="5257800" cy="38100"/>
            </a:xfrm>
            <a:prstGeom prst="rect">
              <a:avLst/>
            </a:prstGeom>
            <a:solidFill>
              <a:srgbClr val="A4302F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Text 9"/>
            <p:cNvSpPr/>
            <p:nvPr/>
          </p:nvSpPr>
          <p:spPr>
            <a:xfrm>
              <a:off x="1317625" y="5882084"/>
              <a:ext cx="4973320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A4302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01</a:t>
              </a:r>
              <a:endParaRPr lang="en-US" sz="18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317625" y="6263084"/>
              <a:ext cx="4973320" cy="368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22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Prozesssicherheit</a:t>
              </a:r>
              <a:endParaRPr lang="en-US" sz="22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317625" y="6726633"/>
              <a:ext cx="4656836" cy="111531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950" dirty="0">
                  <a:solidFill>
                    <a:srgbClr val="B9C6C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Reproduzierbare Härtewerte und dokumentierte Ergebnisse – Charge für Charge, ohne Ausreißer.</a:t>
              </a:r>
              <a:endParaRPr lang="en-US" sz="19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511925" y="5501084"/>
              <a:ext cx="5257800" cy="3011091"/>
            </a:xfrm>
            <a:prstGeom prst="rect">
              <a:avLst/>
            </a:prstGeom>
            <a:solidFill>
              <a:srgbClr val="0E1E2E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Shape 14"/>
            <p:cNvSpPr/>
            <p:nvPr/>
          </p:nvSpPr>
          <p:spPr>
            <a:xfrm>
              <a:off x="6511925" y="5501084"/>
              <a:ext cx="5257800" cy="38100"/>
            </a:xfrm>
            <a:prstGeom prst="rect">
              <a:avLst/>
            </a:prstGeom>
            <a:solidFill>
              <a:srgbClr val="A4302F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Text 17"/>
            <p:cNvSpPr/>
            <p:nvPr/>
          </p:nvSpPr>
          <p:spPr>
            <a:xfrm>
              <a:off x="6880225" y="5882084"/>
              <a:ext cx="4973320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A4302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02</a:t>
              </a:r>
              <a:endParaRPr lang="en-US" sz="18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880225" y="6263084"/>
              <a:ext cx="4973320" cy="368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22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Maßhaltigkeit</a:t>
              </a:r>
              <a:endParaRPr lang="en-US" sz="22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880225" y="6726633"/>
              <a:ext cx="4656836" cy="147439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950" dirty="0">
                  <a:solidFill>
                    <a:srgbClr val="B9C6C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Geringer Verzug bei komplexen Geometrien – für Bauteile, die anschließend nicht mehr nachgearbeitet werden sollen.</a:t>
              </a:r>
              <a:endParaRPr lang="en-US" sz="195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12074525" y="5501084"/>
              <a:ext cx="5257800" cy="38100"/>
            </a:xfrm>
            <a:prstGeom prst="rect">
              <a:avLst/>
            </a:prstGeom>
            <a:solidFill>
              <a:srgbClr val="A4302F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27" name="Text 25"/>
            <p:cNvSpPr/>
            <p:nvPr/>
          </p:nvSpPr>
          <p:spPr>
            <a:xfrm>
              <a:off x="12442826" y="5882084"/>
              <a:ext cx="4973320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A4302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03</a:t>
              </a:r>
              <a:endParaRPr lang="en-US" sz="18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12442826" y="6263084"/>
              <a:ext cx="4973320" cy="368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22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Termintreue</a:t>
              </a:r>
              <a:endParaRPr lang="en-US" sz="225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2442826" y="6726633"/>
              <a:ext cx="4656836" cy="111531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950" dirty="0">
                  <a:solidFill>
                    <a:srgbClr val="B9C6C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Verlässliche Durchlaufzeiten und Kapazitäten, die sich in Ihre Fertigungsplanung einfügen.</a:t>
              </a:r>
              <a:endParaRPr lang="en-US" sz="1950" dirty="0"/>
            </a:p>
          </p:txBody>
        </p:sp>
      </p:grpSp>
      <p:sp>
        <p:nvSpPr>
          <p:cNvPr id="30" name="Shape 28"/>
          <p:cNvSpPr/>
          <p:nvPr/>
        </p:nvSpPr>
        <p:spPr>
          <a:xfrm>
            <a:off x="952500" y="8582770"/>
            <a:ext cx="38100" cy="33020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1100024" y="8621815"/>
            <a:ext cx="910834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Genau dafür </a:t>
            </a:r>
            <a:r>
              <a:rPr lang="en-US" sz="2250" b="1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</a:t>
            </a:r>
            <a:r>
              <a:rPr lang="en-US" sz="2250" b="1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die HQM </a:t>
            </a:r>
            <a:r>
              <a:rPr lang="en-US" sz="2250" b="1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Härtetechnik</a:t>
            </a:r>
            <a:r>
              <a:rPr lang="en-US" sz="2250" b="1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GmbH </a:t>
            </a:r>
            <a:r>
              <a:rPr lang="en-US" sz="2250" b="1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bekannt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>
            <a:extLst>
              <a:ext uri="{FF2B5EF4-FFF2-40B4-BE49-F238E27FC236}">
                <a16:creationId xmlns:a16="http://schemas.microsoft.com/office/drawing/2014/main" id="{B2CA187E-5592-77D7-80A0-890EB49A3DA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A4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HQM HÄRTETECHNIK GMBH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590875"/>
            <a:ext cx="180213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Standorte. Ein Qualitätsversprechen.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465350"/>
            <a:ext cx="1157668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Wärmebehandlung nach aktuellstem Standard an den Standorten Leipzig und Wuppertal – 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250" dirty="0" err="1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r>
              <a:rPr lang="en-US" sz="225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technologischer und metallurgischer Kompetenz.</a:t>
            </a:r>
            <a:endParaRPr lang="en-US" sz="2250" dirty="0"/>
          </a:p>
        </p:txBody>
      </p: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0C011841-F0A9-1059-9B8C-4F0D21204829}"/>
              </a:ext>
            </a:extLst>
          </p:cNvPr>
          <p:cNvGrpSpPr/>
          <p:nvPr/>
        </p:nvGrpSpPr>
        <p:grpSpPr>
          <a:xfrm>
            <a:off x="888492" y="4812779"/>
            <a:ext cx="16356888" cy="3458170"/>
            <a:chOff x="978612" y="5876330"/>
            <a:chExt cx="16356888" cy="3458170"/>
          </a:xfrm>
        </p:grpSpPr>
        <p:sp>
          <p:nvSpPr>
            <p:cNvPr id="22" name="Shape 20"/>
            <p:cNvSpPr/>
            <p:nvPr/>
          </p:nvSpPr>
          <p:spPr>
            <a:xfrm>
              <a:off x="7531894" y="5882680"/>
              <a:ext cx="3224113" cy="3451820"/>
            </a:xfrm>
            <a:prstGeom prst="rect">
              <a:avLst/>
            </a:prstGeom>
            <a:solidFill>
              <a:srgbClr val="0E1E2E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Shape 28"/>
            <p:cNvSpPr/>
            <p:nvPr/>
          </p:nvSpPr>
          <p:spPr>
            <a:xfrm>
              <a:off x="10984607" y="5882680"/>
              <a:ext cx="3061097" cy="3451820"/>
            </a:xfrm>
            <a:prstGeom prst="rect">
              <a:avLst/>
            </a:prstGeom>
            <a:solidFill>
              <a:srgbClr val="0E1E2E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Shape 30"/>
            <p:cNvSpPr/>
            <p:nvPr/>
          </p:nvSpPr>
          <p:spPr>
            <a:xfrm>
              <a:off x="10984607" y="5882680"/>
              <a:ext cx="3061097" cy="38100"/>
            </a:xfrm>
            <a:prstGeom prst="rect">
              <a:avLst/>
            </a:prstGeom>
            <a:solidFill>
              <a:srgbClr val="A4302F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Text 33"/>
            <p:cNvSpPr/>
            <p:nvPr/>
          </p:nvSpPr>
          <p:spPr>
            <a:xfrm>
              <a:off x="11314807" y="6463500"/>
              <a:ext cx="2640767" cy="792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90000"/>
                </a:lnSpc>
                <a:buNone/>
              </a:pPr>
              <a:r>
                <a:rPr lang="en-US" sz="6000" b="1" dirty="0">
                  <a:solidFill>
                    <a:srgbClr val="E27A55"/>
                  </a:solidFill>
                  <a:latin typeface="Arial" pitchFamily="34" charset="0"/>
                  <a:cs typeface="Arial" pitchFamily="34" charset="-120"/>
                </a:rPr>
                <a:t>8.000</a:t>
              </a:r>
            </a:p>
          </p:txBody>
        </p:sp>
        <p:sp>
          <p:nvSpPr>
            <p:cNvPr id="36" name="Text 34"/>
            <p:cNvSpPr/>
            <p:nvPr/>
          </p:nvSpPr>
          <p:spPr>
            <a:xfrm>
              <a:off x="11173167" y="8004993"/>
              <a:ext cx="2872537" cy="4653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025" b="1" dirty="0" err="1">
                  <a:solidFill>
                    <a:srgbClr val="E7EBE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Teilesachnummern</a:t>
              </a:r>
              <a:r>
                <a:rPr lang="en-US" sz="2025" b="1" dirty="0">
                  <a:solidFill>
                    <a:srgbClr val="E7EBE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/ a </a:t>
              </a:r>
              <a:endParaRPr lang="en-US" sz="2025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11314807" y="8394700"/>
              <a:ext cx="2476897" cy="571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7A8B9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Leipzig ~5.000 · Wuppertal ~3.000</a:t>
              </a:r>
              <a:endParaRPr lang="en-US" sz="18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4274304" y="5882680"/>
              <a:ext cx="3061196" cy="3451820"/>
            </a:xfrm>
            <a:prstGeom prst="rect">
              <a:avLst/>
            </a:prstGeom>
            <a:solidFill>
              <a:srgbClr val="0E1E2E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Shape 38"/>
            <p:cNvSpPr/>
            <p:nvPr/>
          </p:nvSpPr>
          <p:spPr>
            <a:xfrm>
              <a:off x="14274304" y="5882680"/>
              <a:ext cx="3061196" cy="38100"/>
            </a:xfrm>
            <a:prstGeom prst="rect">
              <a:avLst/>
            </a:prstGeom>
            <a:solidFill>
              <a:srgbClr val="A4302F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43" name="Text 41"/>
            <p:cNvSpPr/>
            <p:nvPr/>
          </p:nvSpPr>
          <p:spPr>
            <a:xfrm>
              <a:off x="14375904" y="6428181"/>
              <a:ext cx="2640876" cy="792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6000" b="1" dirty="0">
                  <a:solidFill>
                    <a:srgbClr val="E27A55"/>
                  </a:solidFill>
                  <a:latin typeface="Arial" pitchFamily="34" charset="0"/>
                  <a:cs typeface="Arial" pitchFamily="34" charset="-120"/>
                </a:rPr>
                <a:t>13</a:t>
              </a:r>
            </a:p>
          </p:txBody>
        </p:sp>
        <p:sp>
          <p:nvSpPr>
            <p:cNvPr id="44" name="Text 42"/>
            <p:cNvSpPr/>
            <p:nvPr/>
          </p:nvSpPr>
          <p:spPr>
            <a:xfrm>
              <a:off x="14604504" y="8024445"/>
              <a:ext cx="2476996" cy="635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2025" b="1" dirty="0">
                  <a:solidFill>
                    <a:srgbClr val="E7EBE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Verfahren im Portfolio</a:t>
              </a:r>
              <a:endParaRPr lang="en-US" sz="2025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14604504" y="8697545"/>
              <a:ext cx="2640876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7A8B9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unter einem Dach</a:t>
              </a:r>
              <a:endParaRPr lang="en-US" sz="1800" dirty="0"/>
            </a:p>
          </p:txBody>
        </p:sp>
        <p:sp>
          <p:nvSpPr>
            <p:cNvPr id="61" name="Shape 22">
              <a:extLst>
                <a:ext uri="{FF2B5EF4-FFF2-40B4-BE49-F238E27FC236}">
                  <a16:creationId xmlns:a16="http://schemas.microsoft.com/office/drawing/2014/main" id="{8D877FCB-F7D4-440B-944A-A2A5360793E8}"/>
                </a:ext>
              </a:extLst>
            </p:cNvPr>
            <p:cNvSpPr/>
            <p:nvPr/>
          </p:nvSpPr>
          <p:spPr>
            <a:xfrm>
              <a:off x="7547769" y="5882680"/>
              <a:ext cx="3224113" cy="38100"/>
            </a:xfrm>
            <a:prstGeom prst="rect">
              <a:avLst/>
            </a:prstGeom>
            <a:solidFill>
              <a:srgbClr val="A4302F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Text 25">
              <a:extLst>
                <a:ext uri="{FF2B5EF4-FFF2-40B4-BE49-F238E27FC236}">
                  <a16:creationId xmlns:a16="http://schemas.microsoft.com/office/drawing/2014/main" id="{87B52DB4-AB8D-5F5D-DECE-39054A0E1F21}"/>
                </a:ext>
              </a:extLst>
            </p:cNvPr>
            <p:cNvSpPr/>
            <p:nvPr/>
          </p:nvSpPr>
          <p:spPr>
            <a:xfrm>
              <a:off x="7877969" y="6320830"/>
              <a:ext cx="2640625" cy="15468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6000" b="1" dirty="0">
                  <a:solidFill>
                    <a:srgbClr val="E27A55"/>
                  </a:solidFill>
                  <a:latin typeface="Arial" pitchFamily="34" charset="0"/>
                  <a:cs typeface="Arial" pitchFamily="34" charset="-120"/>
                </a:rPr>
                <a:t>15.000</a:t>
              </a:r>
              <a:r>
                <a:rPr lang="en-US" sz="6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3000" b="1" dirty="0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qm</a:t>
              </a:r>
              <a:endParaRPr lang="en-US" sz="6600" dirty="0">
                <a:solidFill>
                  <a:schemeClr val="bg1"/>
                </a:solidFill>
              </a:endParaRPr>
            </a:p>
          </p:txBody>
        </p:sp>
        <p:sp>
          <p:nvSpPr>
            <p:cNvPr id="63" name="Text 26">
              <a:extLst>
                <a:ext uri="{FF2B5EF4-FFF2-40B4-BE49-F238E27FC236}">
                  <a16:creationId xmlns:a16="http://schemas.microsoft.com/office/drawing/2014/main" id="{4DCF6036-A8CA-A16F-0E03-0B44E90B9377}"/>
                </a:ext>
              </a:extLst>
            </p:cNvPr>
            <p:cNvSpPr/>
            <p:nvPr/>
          </p:nvSpPr>
          <p:spPr>
            <a:xfrm>
              <a:off x="7877969" y="8020050"/>
              <a:ext cx="2820085" cy="336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2025" b="1" dirty="0">
                  <a:solidFill>
                    <a:srgbClr val="E7EBE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Produktionsfläche</a:t>
              </a:r>
              <a:endParaRPr lang="en-US" sz="2025" dirty="0"/>
            </a:p>
          </p:txBody>
        </p:sp>
        <p:sp>
          <p:nvSpPr>
            <p:cNvPr id="64" name="Text 27">
              <a:extLst>
                <a:ext uri="{FF2B5EF4-FFF2-40B4-BE49-F238E27FC236}">
                  <a16:creationId xmlns:a16="http://schemas.microsoft.com/office/drawing/2014/main" id="{81AA60DD-ED59-E70A-3F6A-DC0BFB9D61C2}"/>
                </a:ext>
              </a:extLst>
            </p:cNvPr>
            <p:cNvSpPr/>
            <p:nvPr/>
          </p:nvSpPr>
          <p:spPr>
            <a:xfrm>
              <a:off x="7877969" y="8394700"/>
              <a:ext cx="2640625" cy="571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7A8B9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Leipzig 12.000 · Wuppertal 3.000</a:t>
              </a:r>
              <a:endParaRPr lang="en-US" sz="1800" dirty="0"/>
            </a:p>
          </p:txBody>
        </p:sp>
        <p:sp>
          <p:nvSpPr>
            <p:cNvPr id="65" name="Shape 12">
              <a:extLst>
                <a:ext uri="{FF2B5EF4-FFF2-40B4-BE49-F238E27FC236}">
                  <a16:creationId xmlns:a16="http://schemas.microsoft.com/office/drawing/2014/main" id="{CFA01473-AE5A-723D-C9D2-56DC96ADE5C7}"/>
                </a:ext>
              </a:extLst>
            </p:cNvPr>
            <p:cNvSpPr/>
            <p:nvPr/>
          </p:nvSpPr>
          <p:spPr>
            <a:xfrm>
              <a:off x="4277122" y="5882680"/>
              <a:ext cx="3061097" cy="3451820"/>
            </a:xfrm>
            <a:prstGeom prst="rect">
              <a:avLst/>
            </a:prstGeom>
            <a:solidFill>
              <a:srgbClr val="0E1E2E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66" name="Shape 14">
              <a:extLst>
                <a:ext uri="{FF2B5EF4-FFF2-40B4-BE49-F238E27FC236}">
                  <a16:creationId xmlns:a16="http://schemas.microsoft.com/office/drawing/2014/main" id="{6DC3D8E7-DD43-FC1C-C882-B74017B3B236}"/>
                </a:ext>
              </a:extLst>
            </p:cNvPr>
            <p:cNvSpPr/>
            <p:nvPr/>
          </p:nvSpPr>
          <p:spPr>
            <a:xfrm>
              <a:off x="4277122" y="5882680"/>
              <a:ext cx="3061097" cy="38100"/>
            </a:xfrm>
            <a:prstGeom prst="rect">
              <a:avLst/>
            </a:prstGeom>
            <a:solidFill>
              <a:srgbClr val="A4302F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67" name="Text 17">
              <a:extLst>
                <a:ext uri="{FF2B5EF4-FFF2-40B4-BE49-F238E27FC236}">
                  <a16:creationId xmlns:a16="http://schemas.microsoft.com/office/drawing/2014/main" id="{E99B8BB4-E4C2-1345-0F3A-F156C1BB885F}"/>
                </a:ext>
              </a:extLst>
            </p:cNvPr>
            <p:cNvSpPr/>
            <p:nvPr/>
          </p:nvSpPr>
          <p:spPr>
            <a:xfrm>
              <a:off x="4607322" y="6320830"/>
              <a:ext cx="2476897" cy="15468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6000" b="1" dirty="0">
                  <a:solidFill>
                    <a:srgbClr val="E27A55"/>
                  </a:solidFill>
                  <a:latin typeface="Arial" pitchFamily="34" charset="0"/>
                  <a:cs typeface="Arial" pitchFamily="34" charset="-120"/>
                </a:rPr>
                <a:t>12,5</a:t>
              </a:r>
              <a:r>
                <a:rPr lang="en-US" sz="6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</a:t>
              </a:r>
              <a:r>
                <a:rPr lang="en-US" sz="3000" b="1" dirty="0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Mio €</a:t>
              </a:r>
              <a:endParaRPr lang="en-US" sz="6600" dirty="0">
                <a:solidFill>
                  <a:schemeClr val="bg1"/>
                </a:solidFill>
              </a:endParaRPr>
            </a:p>
          </p:txBody>
        </p:sp>
        <p:sp>
          <p:nvSpPr>
            <p:cNvPr id="68" name="Text 18">
              <a:extLst>
                <a:ext uri="{FF2B5EF4-FFF2-40B4-BE49-F238E27FC236}">
                  <a16:creationId xmlns:a16="http://schemas.microsoft.com/office/drawing/2014/main" id="{0FC6C033-F46C-C7DD-668C-BA9BEEE069D8}"/>
                </a:ext>
              </a:extLst>
            </p:cNvPr>
            <p:cNvSpPr/>
            <p:nvPr/>
          </p:nvSpPr>
          <p:spPr>
            <a:xfrm>
              <a:off x="4607322" y="8020050"/>
              <a:ext cx="2640767" cy="336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2025" b="1" dirty="0">
                  <a:solidFill>
                    <a:srgbClr val="E7EBE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Umsatz</a:t>
              </a:r>
              <a:endParaRPr lang="en-US" sz="2025" dirty="0"/>
            </a:p>
          </p:txBody>
        </p:sp>
        <p:sp>
          <p:nvSpPr>
            <p:cNvPr id="69" name="Text 19">
              <a:extLst>
                <a:ext uri="{FF2B5EF4-FFF2-40B4-BE49-F238E27FC236}">
                  <a16:creationId xmlns:a16="http://schemas.microsoft.com/office/drawing/2014/main" id="{230C8B0D-F855-F6AD-3BEE-591B845F38C2}"/>
                </a:ext>
              </a:extLst>
            </p:cNvPr>
            <p:cNvSpPr/>
            <p:nvPr/>
          </p:nvSpPr>
          <p:spPr>
            <a:xfrm>
              <a:off x="4607322" y="8394700"/>
              <a:ext cx="2476897" cy="571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7A8B9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Leipzig 9,1 ·</a:t>
              </a:r>
            </a:p>
            <a:p>
              <a:pPr marL="0" indent="0" algn="l">
                <a:buNone/>
              </a:pPr>
              <a:r>
                <a:rPr lang="en-US" sz="1800" dirty="0">
                  <a:solidFill>
                    <a:srgbClr val="7A8B9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Wuppertal 3,4</a:t>
              </a:r>
              <a:endParaRPr lang="en-US" sz="1800" dirty="0"/>
            </a:p>
          </p:txBody>
        </p:sp>
        <p:sp>
          <p:nvSpPr>
            <p:cNvPr id="70" name="Shape 4">
              <a:extLst>
                <a:ext uri="{FF2B5EF4-FFF2-40B4-BE49-F238E27FC236}">
                  <a16:creationId xmlns:a16="http://schemas.microsoft.com/office/drawing/2014/main" id="{00C3AB7B-3E9B-54F9-3A73-693030D3EF70}"/>
                </a:ext>
              </a:extLst>
            </p:cNvPr>
            <p:cNvSpPr/>
            <p:nvPr/>
          </p:nvSpPr>
          <p:spPr>
            <a:xfrm>
              <a:off x="978612" y="5882680"/>
              <a:ext cx="3061097" cy="3451820"/>
            </a:xfrm>
            <a:prstGeom prst="rect">
              <a:avLst/>
            </a:prstGeom>
            <a:solidFill>
              <a:srgbClr val="0E1E2E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71" name="Shape 6">
              <a:extLst>
                <a:ext uri="{FF2B5EF4-FFF2-40B4-BE49-F238E27FC236}">
                  <a16:creationId xmlns:a16="http://schemas.microsoft.com/office/drawing/2014/main" id="{4B515F7A-83AB-0FC1-AF85-BE08527C4A2F}"/>
                </a:ext>
              </a:extLst>
            </p:cNvPr>
            <p:cNvSpPr/>
            <p:nvPr/>
          </p:nvSpPr>
          <p:spPr>
            <a:xfrm>
              <a:off x="996950" y="5876330"/>
              <a:ext cx="3061097" cy="38100"/>
            </a:xfrm>
            <a:prstGeom prst="rect">
              <a:avLst/>
            </a:prstGeom>
            <a:solidFill>
              <a:srgbClr val="A4302F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72" name="Text 9">
              <a:extLst>
                <a:ext uri="{FF2B5EF4-FFF2-40B4-BE49-F238E27FC236}">
                  <a16:creationId xmlns:a16="http://schemas.microsoft.com/office/drawing/2014/main" id="{F884A49F-515B-23B2-9EEE-1285E1A7741F}"/>
                </a:ext>
              </a:extLst>
            </p:cNvPr>
            <p:cNvSpPr/>
            <p:nvPr/>
          </p:nvSpPr>
          <p:spPr>
            <a:xfrm>
              <a:off x="1327150" y="6468114"/>
              <a:ext cx="2640767" cy="792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>
                <a:lnSpc>
                  <a:spcPct val="82000"/>
                </a:lnSpc>
              </a:pPr>
              <a:r>
                <a:rPr lang="en-US" sz="6000" b="1" dirty="0">
                  <a:solidFill>
                    <a:srgbClr val="E27A55"/>
                  </a:solidFill>
                  <a:latin typeface="Arial" pitchFamily="34" charset="0"/>
                  <a:cs typeface="Arial" pitchFamily="34" charset="-120"/>
                </a:rPr>
                <a:t>120</a:t>
              </a:r>
            </a:p>
          </p:txBody>
        </p:sp>
        <p:sp>
          <p:nvSpPr>
            <p:cNvPr id="73" name="Text 10">
              <a:extLst>
                <a:ext uri="{FF2B5EF4-FFF2-40B4-BE49-F238E27FC236}">
                  <a16:creationId xmlns:a16="http://schemas.microsoft.com/office/drawing/2014/main" id="{09627F86-082E-42B8-26BD-6AD6EAE6786E}"/>
                </a:ext>
              </a:extLst>
            </p:cNvPr>
            <p:cNvSpPr/>
            <p:nvPr/>
          </p:nvSpPr>
          <p:spPr>
            <a:xfrm>
              <a:off x="1327150" y="7992154"/>
              <a:ext cx="2640767" cy="336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2025" b="1" dirty="0">
                  <a:solidFill>
                    <a:srgbClr val="E7EBE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Mitarbeiter</a:t>
              </a:r>
              <a:endParaRPr lang="en-US" sz="2025" dirty="0"/>
            </a:p>
          </p:txBody>
        </p:sp>
        <p:sp>
          <p:nvSpPr>
            <p:cNvPr id="74" name="Text 11">
              <a:extLst>
                <a:ext uri="{FF2B5EF4-FFF2-40B4-BE49-F238E27FC236}">
                  <a16:creationId xmlns:a16="http://schemas.microsoft.com/office/drawing/2014/main" id="{CC8ADCBC-5088-DC4B-6BC7-A834D0BA6DED}"/>
                </a:ext>
              </a:extLst>
            </p:cNvPr>
            <p:cNvSpPr/>
            <p:nvPr/>
          </p:nvSpPr>
          <p:spPr>
            <a:xfrm>
              <a:off x="1327150" y="8366804"/>
              <a:ext cx="2476897" cy="571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7A8B9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Leipzig 80 · </a:t>
              </a:r>
            </a:p>
            <a:p>
              <a:pPr marL="0" indent="0" algn="l">
                <a:buNone/>
              </a:pPr>
              <a:r>
                <a:rPr lang="en-US" sz="1800" dirty="0">
                  <a:solidFill>
                    <a:srgbClr val="7A8B9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Wuppertal 40</a:t>
              </a:r>
              <a:endParaRPr lang="en-US" sz="18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A4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LEISTUNGSSPEKTRUM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09700"/>
            <a:ext cx="14668500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Portfolio, das nahezu jede Anforderung abdeckt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04061" y="2789986"/>
            <a:ext cx="5107705" cy="1871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12800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800" dirty="0"/>
          </a:p>
        </p:txBody>
      </p:sp>
      <p:sp>
        <p:nvSpPr>
          <p:cNvPr id="6" name="Text 4"/>
          <p:cNvSpPr/>
          <p:nvPr/>
        </p:nvSpPr>
        <p:spPr>
          <a:xfrm>
            <a:off x="992685" y="4265174"/>
            <a:ext cx="4909674" cy="76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Verfahren aus einer Hand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52500" y="7850436"/>
            <a:ext cx="104775" cy="104775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1209675" y="7753598"/>
            <a:ext cx="520458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Ansprechpartner statt vieler Zulieferer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52500" y="8358436"/>
            <a:ext cx="104775" cy="104775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209675" y="8261598"/>
            <a:ext cx="545648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Kürzere Lieferketten, weniger Schnittstellen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52500" y="8866436"/>
            <a:ext cx="104775" cy="104775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1209675" y="8769598"/>
            <a:ext cx="476486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Durchgängige, dokumentierte Qualität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7871421" y="2388791"/>
            <a:ext cx="452249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871421" y="2566591"/>
            <a:ext cx="438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04821" y="2547541"/>
            <a:ext cx="3438366" cy="320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Einsatzhärten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8404821" y="2868513"/>
            <a:ext cx="34383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Harte Randschicht, zäher Kern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871421" y="3380978"/>
            <a:ext cx="452249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871421" y="3558778"/>
            <a:ext cx="438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04821" y="3539728"/>
            <a:ext cx="1998911" cy="320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Carbonitrieren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8404821" y="3860701"/>
            <a:ext cx="19989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für Kleinteile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871421" y="4373265"/>
            <a:ext cx="452249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7871421" y="4551065"/>
            <a:ext cx="438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04821" y="4532015"/>
            <a:ext cx="3200440" cy="320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Niederdruckaufkohlen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8404821" y="4852988"/>
            <a:ext cx="32004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Verzugsarm &amp; prozesssicher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871421" y="5365453"/>
            <a:ext cx="452249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7871421" y="5543252"/>
            <a:ext cx="438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04821" y="5524202"/>
            <a:ext cx="3718312" cy="320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Vakuumhärten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8404821" y="5845175"/>
            <a:ext cx="37183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Blanke Oberfläche, wenig Verzug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871421" y="6357739"/>
            <a:ext cx="452249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7871421" y="6535539"/>
            <a:ext cx="438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04821" y="6516489"/>
            <a:ext cx="3144669" cy="320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Vergüten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8404821" y="6837462"/>
            <a:ext cx="31446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 und zäh im Querschnitt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871421" y="7349927"/>
            <a:ext cx="452249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7871421" y="7527727"/>
            <a:ext cx="438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404821" y="7508677"/>
            <a:ext cx="2236291" cy="320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Aufkohlen</a:t>
            </a:r>
            <a:endParaRPr lang="en-US" sz="2025" dirty="0"/>
          </a:p>
        </p:txBody>
      </p:sp>
      <p:sp>
        <p:nvSpPr>
          <p:cNvPr id="37" name="Text 35"/>
          <p:cNvSpPr/>
          <p:nvPr/>
        </p:nvSpPr>
        <p:spPr>
          <a:xfrm>
            <a:off x="8404821" y="7829649"/>
            <a:ext cx="22362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Definierte Härtetiefe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871421" y="8342213"/>
            <a:ext cx="452249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7871421" y="8520014"/>
            <a:ext cx="438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404821" y="8500964"/>
            <a:ext cx="3243005" cy="320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Gasnitrieren</a:t>
            </a:r>
            <a:endParaRPr lang="en-US" sz="2025" dirty="0"/>
          </a:p>
        </p:txBody>
      </p:sp>
      <p:sp>
        <p:nvSpPr>
          <p:cNvPr id="41" name="Text 39"/>
          <p:cNvSpPr/>
          <p:nvPr/>
        </p:nvSpPr>
        <p:spPr>
          <a:xfrm>
            <a:off x="8404821" y="8821936"/>
            <a:ext cx="32430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Maßhaltig ohne Abschrecken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2813011" y="2388791"/>
            <a:ext cx="452249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12813011" y="2566591"/>
            <a:ext cx="438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3346411" y="2547541"/>
            <a:ext cx="3130372" cy="320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Nitrocarburieren</a:t>
            </a:r>
            <a:endParaRPr lang="en-US" sz="2025" dirty="0"/>
          </a:p>
        </p:txBody>
      </p:sp>
      <p:sp>
        <p:nvSpPr>
          <p:cNvPr id="45" name="Text 43"/>
          <p:cNvSpPr/>
          <p:nvPr/>
        </p:nvSpPr>
        <p:spPr>
          <a:xfrm>
            <a:off x="13346411" y="2868513"/>
            <a:ext cx="31303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Verschleiß- &amp; korrosionsfest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2813011" y="3380978"/>
            <a:ext cx="452249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12813011" y="3558778"/>
            <a:ext cx="438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3346411" y="3539728"/>
            <a:ext cx="2823031" cy="320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Oxidieren</a:t>
            </a:r>
            <a:endParaRPr lang="en-US" sz="2025" dirty="0"/>
          </a:p>
        </p:txBody>
      </p:sp>
      <p:sp>
        <p:nvSpPr>
          <p:cNvPr id="49" name="Text 47"/>
          <p:cNvSpPr/>
          <p:nvPr/>
        </p:nvSpPr>
        <p:spPr>
          <a:xfrm>
            <a:off x="13346411" y="3860701"/>
            <a:ext cx="28230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Korrosionsschutz &amp; Optik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2813011" y="4373265"/>
            <a:ext cx="452249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>
            <a:off x="12813011" y="4551065"/>
            <a:ext cx="438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3346411" y="4532015"/>
            <a:ext cx="2753945" cy="320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Glühen</a:t>
            </a:r>
            <a:endParaRPr lang="en-US" sz="2025" dirty="0"/>
          </a:p>
        </p:txBody>
      </p:sp>
      <p:sp>
        <p:nvSpPr>
          <p:cNvPr id="53" name="Text 51"/>
          <p:cNvSpPr/>
          <p:nvPr/>
        </p:nvSpPr>
        <p:spPr>
          <a:xfrm>
            <a:off x="13346411" y="4852988"/>
            <a:ext cx="27539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Gefüge gezielt einstellen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2813011" y="5365453"/>
            <a:ext cx="452249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5" name="Text 53"/>
          <p:cNvSpPr/>
          <p:nvPr/>
        </p:nvSpPr>
        <p:spPr>
          <a:xfrm>
            <a:off x="12813011" y="5543252"/>
            <a:ext cx="438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3346411" y="5524202"/>
            <a:ext cx="2752963" cy="320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Aluminium Härten</a:t>
            </a:r>
            <a:endParaRPr lang="en-US" sz="2025" dirty="0"/>
          </a:p>
        </p:txBody>
      </p:sp>
      <p:sp>
        <p:nvSpPr>
          <p:cNvPr id="57" name="Text 55"/>
          <p:cNvSpPr/>
          <p:nvPr/>
        </p:nvSpPr>
        <p:spPr>
          <a:xfrm>
            <a:off x="13346411" y="5845175"/>
            <a:ext cx="27529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Festigkeit für NE-Metalle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2813011" y="6357739"/>
            <a:ext cx="452249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9" name="Text 57"/>
          <p:cNvSpPr/>
          <p:nvPr/>
        </p:nvSpPr>
        <p:spPr>
          <a:xfrm>
            <a:off x="12813011" y="6535539"/>
            <a:ext cx="438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3346411" y="6516489"/>
            <a:ext cx="3173155" cy="320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Festigkeitsstrahlen</a:t>
            </a:r>
            <a:endParaRPr lang="en-US" sz="2025" dirty="0"/>
          </a:p>
        </p:txBody>
      </p:sp>
      <p:sp>
        <p:nvSpPr>
          <p:cNvPr id="61" name="Text 59"/>
          <p:cNvSpPr/>
          <p:nvPr/>
        </p:nvSpPr>
        <p:spPr>
          <a:xfrm>
            <a:off x="13346411" y="6837462"/>
            <a:ext cx="31731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30 % mehr Lebensdauer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2813011" y="7349927"/>
            <a:ext cx="452249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3" name="Text 61"/>
          <p:cNvSpPr/>
          <p:nvPr/>
        </p:nvSpPr>
        <p:spPr>
          <a:xfrm>
            <a:off x="12813011" y="7527727"/>
            <a:ext cx="438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3346411" y="7508677"/>
            <a:ext cx="2421940" cy="320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Reinigungsstrahlen</a:t>
            </a:r>
            <a:endParaRPr lang="en-US" sz="2025" dirty="0"/>
          </a:p>
        </p:txBody>
      </p:sp>
      <p:sp>
        <p:nvSpPr>
          <p:cNvPr id="65" name="Text 63"/>
          <p:cNvSpPr/>
          <p:nvPr/>
        </p:nvSpPr>
        <p:spPr>
          <a:xfrm>
            <a:off x="13346411" y="7829649"/>
            <a:ext cx="24219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Saubere Oberfläche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26657" r="26657"/>
          <a:stretch/>
        </p:blipFill>
        <p:spPr>
          <a:xfrm>
            <a:off x="0" y="0"/>
            <a:ext cx="7315200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15300" y="838200"/>
            <a:ext cx="51562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A4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VERFAHREN · KERNPROZESSE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776204" y="838200"/>
            <a:ext cx="7878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02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15300" y="2760663"/>
            <a:ext cx="269086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Einsatzhärten</a:t>
            </a:r>
            <a:endParaRPr lang="en-US" sz="3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21000" y="2589213"/>
            <a:ext cx="1866900" cy="8001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15300" y="3541713"/>
            <a:ext cx="965377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Thermochemisches Aufkohlen bzw. Carbonitrieren der Randzone kohlenstoffarmer Stähle mit anschließendem Härten und Anlassen – harte, verschleißfeste Randschicht bei zähem Kern.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8115300" y="4789488"/>
            <a:ext cx="1030986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Zahnräder · Wellen · hochbeanspruchte Bauteile</a:t>
            </a:r>
            <a:endParaRPr lang="en-US" sz="1875" dirty="0"/>
          </a:p>
        </p:txBody>
      </p:sp>
      <p:sp>
        <p:nvSpPr>
          <p:cNvPr id="10" name="Shape 6"/>
          <p:cNvSpPr/>
          <p:nvPr/>
        </p:nvSpPr>
        <p:spPr>
          <a:xfrm>
            <a:off x="8115300" y="5500688"/>
            <a:ext cx="937260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7"/>
          <p:cNvSpPr/>
          <p:nvPr/>
        </p:nvSpPr>
        <p:spPr>
          <a:xfrm>
            <a:off x="8115300" y="6119813"/>
            <a:ext cx="23306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Vergüten</a:t>
            </a:r>
            <a:endParaRPr lang="en-US" sz="3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21000" y="5948363"/>
            <a:ext cx="1866900" cy="8001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15300" y="6900863"/>
            <a:ext cx="965377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Härten mit </a:t>
            </a:r>
            <a:r>
              <a:rPr lang="en-US" sz="1950" dirty="0" err="1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anschließendem</a:t>
            </a:r>
            <a:r>
              <a:rPr lang="en-US" sz="195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Hochtemperatur-Anlassen</a:t>
            </a:r>
            <a:r>
              <a:rPr lang="en-US" sz="195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aus sprödem Martensit entsteht ein zäher, fester Stahl mit gleichmäßigen Eigenschaften über den gesamten Querschnitt.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8115300" y="8148638"/>
            <a:ext cx="1030986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Dynamisch belastete Bauteile · Antriebstechnik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E790D-66E8-9EDC-8029-880A85172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56B14654-DC6E-7BCE-94BD-69C5C05B3434}"/>
              </a:ext>
            </a:extLst>
          </p:cNvPr>
          <p:cNvSpPr/>
          <p:nvPr/>
        </p:nvSpPr>
        <p:spPr>
          <a:xfrm>
            <a:off x="5961500" y="698500"/>
            <a:ext cx="7729100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kern="0" spc="396" dirty="0">
                <a:solidFill>
                  <a:srgbClr val="A4302F"/>
                </a:solidFill>
                <a:latin typeface="Arial" pitchFamily="34" charset="0"/>
                <a:cs typeface="Arial" pitchFamily="34" charset="-120"/>
              </a:rPr>
              <a:t>BEISPIELE · VERGÜTEN </a:t>
            </a:r>
            <a:r>
              <a:rPr lang="en-US" b="1" kern="0" spc="396" dirty="0">
                <a:solidFill>
                  <a:srgbClr val="A4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800" b="1" kern="0" spc="396" dirty="0">
                <a:solidFill>
                  <a:srgbClr val="A4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KERNPROZESSE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94DBD04-194B-51FD-9E90-57BB91FF5B01}"/>
              </a:ext>
            </a:extLst>
          </p:cNvPr>
          <p:cNvSpPr/>
          <p:nvPr/>
        </p:nvSpPr>
        <p:spPr>
          <a:xfrm>
            <a:off x="16776204" y="838200"/>
            <a:ext cx="7878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02</a:t>
            </a:r>
            <a:endParaRPr lang="en-US" sz="1800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5D407285-1E81-93D2-B0BA-A1C2A5FC3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700" y="1385384"/>
            <a:ext cx="6306700" cy="7869712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AF39FAC8-2890-3F14-E644-9989A5D2E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502" y="1385384"/>
            <a:ext cx="6317798" cy="786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25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44454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A4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VERFAHREN · AUFKOHLEN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23804" y="952500"/>
            <a:ext cx="7878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538995"/>
            <a:ext cx="1802130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9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Wege zur aufgekohlten Randschicht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52500" y="2348805"/>
            <a:ext cx="8020050" cy="6985695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416049" y="2812356"/>
            <a:ext cx="222338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Aufkohlen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565007" y="2815530"/>
            <a:ext cx="1943993" cy="431800"/>
          </a:xfrm>
          <a:prstGeom prst="rect">
            <a:avLst/>
          </a:prstGeom>
          <a:solidFill>
            <a:srgbClr val="122436"/>
          </a:solidFill>
          <a:ln w="6350">
            <a:solidFill>
              <a:srgbClr val="A4302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723757" y="2898080"/>
            <a:ext cx="1702693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r>
              <a:rPr lang="en-US" b="1" dirty="0" err="1">
                <a:solidFill>
                  <a:srgbClr val="E27A55"/>
                </a:solidFill>
                <a:latin typeface="Arial" pitchFamily="34" charset="0"/>
                <a:cs typeface="Arial" pitchFamily="34" charset="-120"/>
              </a:rPr>
              <a:t>Gasatmosphäre</a:t>
            </a:r>
            <a:endParaRPr lang="en-US" b="1" dirty="0">
              <a:solidFill>
                <a:srgbClr val="E27A55"/>
              </a:solidFill>
              <a:latin typeface="Arial" pitchFamily="34" charset="0"/>
              <a:cs typeface="Arial" pitchFamily="34" charset="-12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6050" y="3649549"/>
            <a:ext cx="7092950" cy="135284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6050" y="5186170"/>
            <a:ext cx="7305739" cy="1705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Behandlung in kohlenstoffreicher Atmosphäre – der Kohlenstoff diffundiert in die Randschicht und macht sie martensitisch härtbar. Die Aufkohlzeit bestimmt die Härtetiefe.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416050" y="8597900"/>
            <a:ext cx="7305739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Verschleißfeste Randschicht · zäher Kern</a:t>
            </a:r>
            <a:endParaRPr lang="en-US" sz="1875" dirty="0"/>
          </a:p>
        </p:txBody>
      </p:sp>
      <p:sp>
        <p:nvSpPr>
          <p:cNvPr id="13" name="Shape 10"/>
          <p:cNvSpPr/>
          <p:nvPr/>
        </p:nvSpPr>
        <p:spPr>
          <a:xfrm>
            <a:off x="9315450" y="2348805"/>
            <a:ext cx="8020050" cy="6985695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1"/>
          <p:cNvSpPr/>
          <p:nvPr/>
        </p:nvSpPr>
        <p:spPr>
          <a:xfrm>
            <a:off x="9315450" y="9328150"/>
            <a:ext cx="802005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9315450" y="2330632"/>
            <a:ext cx="8020050" cy="3810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3"/>
          <p:cNvSpPr/>
          <p:nvPr/>
        </p:nvSpPr>
        <p:spPr>
          <a:xfrm>
            <a:off x="9315450" y="2348805"/>
            <a:ext cx="9525" cy="698569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4"/>
          <p:cNvSpPr/>
          <p:nvPr/>
        </p:nvSpPr>
        <p:spPr>
          <a:xfrm>
            <a:off x="17329150" y="2348805"/>
            <a:ext cx="9525" cy="698569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9779001" y="2844105"/>
            <a:ext cx="40770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Niederdruckaufkohlen</a:t>
            </a:r>
            <a:endParaRPr lang="en-US" sz="3000" dirty="0"/>
          </a:p>
        </p:txBody>
      </p:sp>
      <p:sp>
        <p:nvSpPr>
          <p:cNvPr id="19" name="Shape 16"/>
          <p:cNvSpPr/>
          <p:nvPr/>
        </p:nvSpPr>
        <p:spPr>
          <a:xfrm>
            <a:off x="15732721" y="2847281"/>
            <a:ext cx="1139230" cy="431800"/>
          </a:xfrm>
          <a:prstGeom prst="rect">
            <a:avLst/>
          </a:prstGeom>
          <a:solidFill>
            <a:srgbClr val="122436"/>
          </a:solidFill>
          <a:ln w="6350">
            <a:solidFill>
              <a:srgbClr val="A4302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15891471" y="2929831"/>
            <a:ext cx="897930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Vakuum</a:t>
            </a:r>
            <a:endParaRPr lang="en-US" sz="18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9001" y="3869026"/>
            <a:ext cx="7092950" cy="113336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779001" y="5223968"/>
            <a:ext cx="7305739" cy="1681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Aufkohlen </a:t>
            </a:r>
            <a:r>
              <a:rPr lang="en-US" sz="1950" dirty="0" err="1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</a:t>
            </a:r>
            <a:r>
              <a:rPr lang="en-US" sz="195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Niederdruck</a:t>
            </a:r>
            <a:r>
              <a:rPr lang="en-US" sz="195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sehr gleichmäßige Randschicht ohne Randoxidation, kombiniert mit Hochdruck-Gasabschreckung für minimalen Verzug.</a:t>
            </a:r>
            <a:endParaRPr lang="en-US" sz="1950" dirty="0"/>
          </a:p>
        </p:txBody>
      </p:sp>
      <p:sp>
        <p:nvSpPr>
          <p:cNvPr id="23" name="Text 19"/>
          <p:cNvSpPr/>
          <p:nvPr/>
        </p:nvSpPr>
        <p:spPr>
          <a:xfrm>
            <a:off x="9779001" y="8597900"/>
            <a:ext cx="7305739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Höchste Prozesssicherheit · geringster Verzug</a:t>
            </a:r>
            <a:endParaRPr lang="en-US" sz="1875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DF62FFC6-6600-4FF9-8624-5C009A8537B6}"/>
              </a:ext>
            </a:extLst>
          </p:cNvPr>
          <p:cNvSpPr/>
          <p:nvPr/>
        </p:nvSpPr>
        <p:spPr>
          <a:xfrm>
            <a:off x="947615" y="2325583"/>
            <a:ext cx="8020050" cy="3810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8168"/>
            <a:ext cx="18288000" cy="1028700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38042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A4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VERFAHREN · GLÜHEN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81203" y="952500"/>
            <a:ext cx="3304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7166" y="2524125"/>
            <a:ext cx="847783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Glühen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52500" y="3773488"/>
            <a:ext cx="6278880" cy="2524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75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Kontrolliertes Erwärmen, Halten und meist langsames Abkühlen zur gezielten Gefügeeinstellung. Baut Spannungen ab, homogenisiert die Struktur und verbessert die Umformbarkeit – die ideale Vorbereitung weiterer </a:t>
            </a:r>
            <a:r>
              <a:rPr lang="en-US" sz="2175" dirty="0" err="1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Fertigungsschritte</a:t>
            </a:r>
            <a:r>
              <a:rPr lang="en-US" sz="2175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175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6583363"/>
            <a:ext cx="5334000" cy="16192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079732" y="2498725"/>
            <a:ext cx="7255768" cy="5899150"/>
          </a:xfrm>
          <a:prstGeom prst="rect">
            <a:avLst/>
          </a:prstGeom>
          <a:solidFill>
            <a:srgbClr val="0E1E2E"/>
          </a:solidFill>
          <a:ln w="6350">
            <a:solidFill>
              <a:srgbClr val="263B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10543282" y="2962275"/>
            <a:ext cx="6961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SECHS GLÜH-VARIANTEN </a:t>
            </a:r>
            <a:r>
              <a:rPr lang="en-US" b="1" kern="0" spc="252" dirty="0">
                <a:solidFill>
                  <a:srgbClr val="7A8B95"/>
                </a:solidFill>
                <a:latin typeface="Arial" pitchFamily="34" charset="0"/>
                <a:cs typeface="Arial" pitchFamily="34" charset="-120"/>
              </a:rPr>
              <a:t>ZUR AUSWAHL</a:t>
            </a:r>
          </a:p>
        </p:txBody>
      </p:sp>
      <p:sp>
        <p:nvSpPr>
          <p:cNvPr id="10" name="Shape 7"/>
          <p:cNvSpPr/>
          <p:nvPr/>
        </p:nvSpPr>
        <p:spPr>
          <a:xfrm>
            <a:off x="10543282" y="3476625"/>
            <a:ext cx="6328668" cy="61595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10543282" y="3476625"/>
            <a:ext cx="38100" cy="61595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10809982" y="3629025"/>
            <a:ext cx="602322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Diffusionsglühen</a:t>
            </a:r>
            <a:endParaRPr lang="en-US" sz="2175" dirty="0"/>
          </a:p>
        </p:txBody>
      </p:sp>
      <p:sp>
        <p:nvSpPr>
          <p:cNvPr id="13" name="Shape 10"/>
          <p:cNvSpPr/>
          <p:nvPr/>
        </p:nvSpPr>
        <p:spPr>
          <a:xfrm>
            <a:off x="10543282" y="4244975"/>
            <a:ext cx="6328668" cy="61595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1"/>
          <p:cNvSpPr/>
          <p:nvPr/>
        </p:nvSpPr>
        <p:spPr>
          <a:xfrm>
            <a:off x="10543282" y="4244975"/>
            <a:ext cx="38100" cy="61595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10809982" y="4397375"/>
            <a:ext cx="602322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Spannungsarmglühen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10543282" y="5013325"/>
            <a:ext cx="6328668" cy="61595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4"/>
          <p:cNvSpPr/>
          <p:nvPr/>
        </p:nvSpPr>
        <p:spPr>
          <a:xfrm>
            <a:off x="10543282" y="5013325"/>
            <a:ext cx="38100" cy="61595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10809982" y="5165725"/>
            <a:ext cx="602322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Rekristallisationsglühen</a:t>
            </a:r>
            <a:endParaRPr lang="en-US" sz="2175" dirty="0"/>
          </a:p>
        </p:txBody>
      </p:sp>
      <p:sp>
        <p:nvSpPr>
          <p:cNvPr id="19" name="Shape 16"/>
          <p:cNvSpPr/>
          <p:nvPr/>
        </p:nvSpPr>
        <p:spPr>
          <a:xfrm>
            <a:off x="10543282" y="5781675"/>
            <a:ext cx="6328668" cy="61595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7"/>
          <p:cNvSpPr/>
          <p:nvPr/>
        </p:nvSpPr>
        <p:spPr>
          <a:xfrm>
            <a:off x="10543282" y="5781675"/>
            <a:ext cx="38100" cy="61595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/>
          <p:nvPr/>
        </p:nvSpPr>
        <p:spPr>
          <a:xfrm>
            <a:off x="10809982" y="5934075"/>
            <a:ext cx="602322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Normalglühen</a:t>
            </a:r>
            <a:endParaRPr lang="en-US" sz="2175" dirty="0"/>
          </a:p>
        </p:txBody>
      </p:sp>
      <p:sp>
        <p:nvSpPr>
          <p:cNvPr id="22" name="Shape 19"/>
          <p:cNvSpPr/>
          <p:nvPr/>
        </p:nvSpPr>
        <p:spPr>
          <a:xfrm>
            <a:off x="10543282" y="6550025"/>
            <a:ext cx="6328668" cy="61595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Shape 20"/>
          <p:cNvSpPr/>
          <p:nvPr/>
        </p:nvSpPr>
        <p:spPr>
          <a:xfrm>
            <a:off x="10543282" y="6550025"/>
            <a:ext cx="38100" cy="61595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/>
          <p:nvPr/>
        </p:nvSpPr>
        <p:spPr>
          <a:xfrm>
            <a:off x="10809982" y="6702425"/>
            <a:ext cx="602322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Weichglühen</a:t>
            </a:r>
            <a:endParaRPr lang="en-US" sz="2175" dirty="0"/>
          </a:p>
        </p:txBody>
      </p:sp>
      <p:sp>
        <p:nvSpPr>
          <p:cNvPr id="25" name="Shape 22"/>
          <p:cNvSpPr/>
          <p:nvPr/>
        </p:nvSpPr>
        <p:spPr>
          <a:xfrm>
            <a:off x="10543282" y="7318375"/>
            <a:ext cx="6328668" cy="61595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Shape 23"/>
          <p:cNvSpPr/>
          <p:nvPr/>
        </p:nvSpPr>
        <p:spPr>
          <a:xfrm>
            <a:off x="10543282" y="7318375"/>
            <a:ext cx="38100" cy="61595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4"/>
          <p:cNvSpPr/>
          <p:nvPr/>
        </p:nvSpPr>
        <p:spPr>
          <a:xfrm>
            <a:off x="10809982" y="7470775"/>
            <a:ext cx="602322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Lösungsglühen</a:t>
            </a:r>
            <a:endParaRPr lang="en-US" sz="2175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21DC597-F4F1-AF2A-490B-95D79BF4926F}"/>
              </a:ext>
            </a:extLst>
          </p:cNvPr>
          <p:cNvSpPr txBox="1"/>
          <p:nvPr/>
        </p:nvSpPr>
        <p:spPr>
          <a:xfrm>
            <a:off x="1004764" y="8935561"/>
            <a:ext cx="11816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B9C6CF"/>
                </a:solidFill>
                <a:latin typeface="Arial" pitchFamily="34" charset="0"/>
                <a:cs typeface="Arial" pitchFamily="34" charset="-120"/>
              </a:rPr>
              <a:t>Weitere Verfahren auf Anfrage – Perlitglühen, GKZ Glühen, BG Glühen, Isothermes Glühen etc. </a:t>
            </a:r>
            <a:r>
              <a:rPr lang="de-DE" dirty="0"/>
              <a:t>.</a:t>
            </a:r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3F69A489-977A-2703-7252-D45A52646CED}"/>
              </a:ext>
            </a:extLst>
          </p:cNvPr>
          <p:cNvSpPr/>
          <p:nvPr/>
        </p:nvSpPr>
        <p:spPr>
          <a:xfrm>
            <a:off x="867166" y="8852853"/>
            <a:ext cx="45719" cy="547669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59687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A4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VERFAHREN · NIEDERTEMPERATUR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66306" y="952500"/>
            <a:ext cx="12453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07 · 08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466850"/>
            <a:ext cx="7016708" cy="476250"/>
          </a:xfrm>
          <a:prstGeom prst="rect">
            <a:avLst/>
          </a:prstGeom>
          <a:solidFill>
            <a:srgbClr val="E27A5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200150" y="1581150"/>
            <a:ext cx="632699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500–585 °C · verzugsarm · ohne Abschrecken</a:t>
            </a:r>
            <a:endParaRPr lang="en-US" sz="1875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952500" y="2330450"/>
            <a:ext cx="5270500" cy="7004050"/>
          </a:xfrm>
          <a:prstGeom prst="rect">
            <a:avLst/>
          </a:prstGeom>
          <a:solidFill>
            <a:srgbClr val="0E1E2E"/>
          </a:solidFill>
          <a:ln w="6350">
            <a:solidFill>
              <a:srgbClr val="263B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377950" y="2755900"/>
            <a:ext cx="4861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Gasnitrieren</a:t>
            </a:r>
            <a:endParaRPr lang="en-US" sz="28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7950" y="3864443"/>
            <a:ext cx="4419600" cy="8001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7950" y="5269692"/>
            <a:ext cx="4552188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Anreicherung der Randschicht mit Stickstoff in ammoniakhaltiger Atmosphäre – sehr harte, verschleißfeste Oberfläche ohne Gefügeumwandlung.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1377950" y="8642350"/>
            <a:ext cx="45521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Hohe Maßhaltigkeit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508750" y="2330450"/>
            <a:ext cx="5270500" cy="7004050"/>
          </a:xfrm>
          <a:prstGeom prst="rect">
            <a:avLst/>
          </a:prstGeom>
          <a:solidFill>
            <a:srgbClr val="0E1E2E"/>
          </a:solidFill>
          <a:ln w="6350">
            <a:solidFill>
              <a:srgbClr val="263B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6934200" y="2755900"/>
            <a:ext cx="4861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Nitrocarburieren</a:t>
            </a:r>
            <a:endParaRPr lang="en-US" sz="28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4200" y="3864443"/>
            <a:ext cx="4419600" cy="8001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34200" y="5269692"/>
            <a:ext cx="4552188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Stickstoff und Kohlenstoff bilden eine harte Verbindungsschicht aus Nitriden und Carbiden – schichtwirksamer als Gasnitrieren.</a:t>
            </a:r>
            <a:endParaRPr lang="en-US" sz="1875" dirty="0"/>
          </a:p>
        </p:txBody>
      </p:sp>
      <p:sp>
        <p:nvSpPr>
          <p:cNvPr id="16" name="Text 12"/>
          <p:cNvSpPr/>
          <p:nvPr/>
        </p:nvSpPr>
        <p:spPr>
          <a:xfrm>
            <a:off x="6934200" y="8642350"/>
            <a:ext cx="45521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Präzise, hochbelastete Teile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12065001" y="2330450"/>
            <a:ext cx="5270500" cy="7004050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18" name="Shape 14"/>
          <p:cNvSpPr/>
          <p:nvPr/>
        </p:nvSpPr>
        <p:spPr>
          <a:xfrm>
            <a:off x="12065001" y="9328150"/>
            <a:ext cx="527050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5"/>
          <p:cNvSpPr/>
          <p:nvPr/>
        </p:nvSpPr>
        <p:spPr>
          <a:xfrm>
            <a:off x="12065001" y="2330450"/>
            <a:ext cx="5270500" cy="3810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6"/>
          <p:cNvSpPr/>
          <p:nvPr/>
        </p:nvSpPr>
        <p:spPr>
          <a:xfrm>
            <a:off x="12065001" y="2330450"/>
            <a:ext cx="9525" cy="7004050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Shape 17"/>
          <p:cNvSpPr/>
          <p:nvPr/>
        </p:nvSpPr>
        <p:spPr>
          <a:xfrm>
            <a:off x="17329151" y="2330450"/>
            <a:ext cx="9525" cy="7004050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8"/>
          <p:cNvSpPr/>
          <p:nvPr/>
        </p:nvSpPr>
        <p:spPr>
          <a:xfrm>
            <a:off x="12490450" y="2787650"/>
            <a:ext cx="4861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Oxidieren</a:t>
            </a:r>
            <a:endParaRPr lang="en-US" sz="28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0450" y="3896193"/>
            <a:ext cx="4419600" cy="8001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490450" y="5301442"/>
            <a:ext cx="4552188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Gezielte Oxidation – meist als Nachbehandlung des Nitrocarburierens. Erzeugt eine tiefschwarze Oxidschicht für zusätzlichen Korrosionsschutz und Optik.</a:t>
            </a:r>
            <a:endParaRPr lang="en-US" sz="1875" dirty="0"/>
          </a:p>
        </p:txBody>
      </p:sp>
      <p:sp>
        <p:nvSpPr>
          <p:cNvPr id="25" name="Text 20"/>
          <p:cNvSpPr/>
          <p:nvPr/>
        </p:nvSpPr>
        <p:spPr>
          <a:xfrm>
            <a:off x="12490450" y="8642350"/>
            <a:ext cx="45521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Korrosionsschutz &amp; Optik</a:t>
            </a:r>
            <a:endParaRPr lang="en-US" sz="1800" dirty="0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6F084AB0-CD60-A272-A00A-CC7B231EAA32}"/>
              </a:ext>
            </a:extLst>
          </p:cNvPr>
          <p:cNvSpPr/>
          <p:nvPr/>
        </p:nvSpPr>
        <p:spPr>
          <a:xfrm>
            <a:off x="6510512" y="2340180"/>
            <a:ext cx="5270500" cy="3810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63560771-B01E-B118-76AD-5C4604A862DA}"/>
              </a:ext>
            </a:extLst>
          </p:cNvPr>
          <p:cNvSpPr/>
          <p:nvPr/>
        </p:nvSpPr>
        <p:spPr>
          <a:xfrm>
            <a:off x="949538" y="2360898"/>
            <a:ext cx="5270500" cy="3810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700" y="-95250"/>
            <a:ext cx="18288000" cy="1028700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800100" y="838200"/>
            <a:ext cx="69021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A4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VERFAHREN · VAKUUM &amp; DIREKTHÄRTEN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461004" y="838200"/>
            <a:ext cx="7878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0099" y="2692400"/>
            <a:ext cx="32390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Carbonitrieren</a:t>
            </a:r>
            <a:endParaRPr lang="en-US" sz="3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5800" y="2520950"/>
            <a:ext cx="1866900" cy="800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" y="3473450"/>
            <a:ext cx="965377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 des Einsatzhärtens – die Randschicht wird mit Kohlenstoff und Stickstoff angereichert und meist direkt gehärtet. Ideal für Kleinteile und niedriglegierte Stähle.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800100" y="5111750"/>
            <a:ext cx="937260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800100" y="5730875"/>
            <a:ext cx="282947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Vakuumhärten</a:t>
            </a:r>
            <a:endParaRPr lang="en-US" sz="3150" dirty="0"/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F8630C1C-D0C0-6C68-D95B-CC30CE365F16}"/>
              </a:ext>
            </a:extLst>
          </p:cNvPr>
          <p:cNvSpPr/>
          <p:nvPr/>
        </p:nvSpPr>
        <p:spPr>
          <a:xfrm>
            <a:off x="8394700" y="6235065"/>
            <a:ext cx="1689100" cy="8890"/>
          </a:xfrm>
          <a:custGeom>
            <a:avLst/>
            <a:gdLst>
              <a:gd name="csX0" fmla="*/ 0 w 1689100"/>
              <a:gd name="csY0" fmla="*/ 0 h 8890"/>
              <a:gd name="csX1" fmla="*/ 1689100 w 1689100"/>
              <a:gd name="csY1" fmla="*/ 0 h 889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89100" h="8890">
                <a:moveTo>
                  <a:pt x="0" y="0"/>
                </a:moveTo>
                <a:lnTo>
                  <a:pt x="1689100" y="0"/>
                </a:lnTo>
              </a:path>
            </a:pathLst>
          </a:custGeom>
          <a:ln w="17780" cap="flat">
            <a:solidFill>
              <a:srgbClr val="35506A"/>
            </a:solidFill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4B712AF3-0783-8AE1-C895-E92A2B522E8E}"/>
              </a:ext>
            </a:extLst>
          </p:cNvPr>
          <p:cNvSpPr/>
          <p:nvPr/>
        </p:nvSpPr>
        <p:spPr>
          <a:xfrm>
            <a:off x="8394700" y="5648325"/>
            <a:ext cx="8890" cy="586740"/>
          </a:xfrm>
          <a:custGeom>
            <a:avLst/>
            <a:gdLst>
              <a:gd name="csX0" fmla="*/ 0 w 8890"/>
              <a:gd name="csY0" fmla="*/ 586740 h 586740"/>
              <a:gd name="csX1" fmla="*/ 0 w 8890"/>
              <a:gd name="csY1" fmla="*/ 0 h 586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890" h="586740">
                <a:moveTo>
                  <a:pt x="0" y="586740"/>
                </a:moveTo>
                <a:lnTo>
                  <a:pt x="0" y="0"/>
                </a:lnTo>
              </a:path>
            </a:pathLst>
          </a:custGeom>
          <a:ln w="17780" cap="flat">
            <a:solidFill>
              <a:srgbClr val="35506A"/>
            </a:solidFill>
            <a:prstDash val="solid"/>
            <a:miter/>
          </a:ln>
        </p:spPr>
        <p:txBody>
          <a:bodyPr/>
          <a:lstStyle/>
          <a:p>
            <a:endParaRPr lang="de-DE"/>
          </a:p>
        </p:txBody>
      </p:sp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97B273E4-B7A2-868F-604D-05465074DB26}"/>
              </a:ext>
            </a:extLst>
          </p:cNvPr>
          <p:cNvSpPr/>
          <p:nvPr/>
        </p:nvSpPr>
        <p:spPr>
          <a:xfrm>
            <a:off x="8394700" y="5701665"/>
            <a:ext cx="1262380" cy="480060"/>
          </a:xfrm>
          <a:custGeom>
            <a:avLst/>
            <a:gdLst>
              <a:gd name="csX0" fmla="*/ 0 w 1262380"/>
              <a:gd name="csY0" fmla="*/ 480060 h 480060"/>
              <a:gd name="csX1" fmla="*/ 195580 w 1262380"/>
              <a:gd name="csY1" fmla="*/ 0 h 480060"/>
              <a:gd name="csX2" fmla="*/ 871220 w 1262380"/>
              <a:gd name="csY2" fmla="*/ 0 h 480060"/>
              <a:gd name="csX3" fmla="*/ 871220 w 1262380"/>
              <a:gd name="csY3" fmla="*/ 195580 h 480060"/>
              <a:gd name="csX4" fmla="*/ 1049020 w 1262380"/>
              <a:gd name="csY4" fmla="*/ 195580 h 480060"/>
              <a:gd name="csX5" fmla="*/ 1049020 w 1262380"/>
              <a:gd name="csY5" fmla="*/ 355600 h 480060"/>
              <a:gd name="csX6" fmla="*/ 1262380 w 1262380"/>
              <a:gd name="csY6" fmla="*/ 355600 h 480060"/>
              <a:gd name="csX7" fmla="*/ 1262380 w 1262380"/>
              <a:gd name="csY7" fmla="*/ 444500 h 480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62380" h="480060">
                <a:moveTo>
                  <a:pt x="0" y="480060"/>
                </a:moveTo>
                <a:lnTo>
                  <a:pt x="195580" y="0"/>
                </a:lnTo>
                <a:lnTo>
                  <a:pt x="871220" y="0"/>
                </a:lnTo>
                <a:lnTo>
                  <a:pt x="871220" y="195580"/>
                </a:lnTo>
                <a:lnTo>
                  <a:pt x="1049020" y="195580"/>
                </a:lnTo>
                <a:lnTo>
                  <a:pt x="1049020" y="355600"/>
                </a:lnTo>
                <a:lnTo>
                  <a:pt x="1262380" y="355600"/>
                </a:lnTo>
                <a:lnTo>
                  <a:pt x="1262380" y="444500"/>
                </a:lnTo>
              </a:path>
            </a:pathLst>
          </a:custGeom>
          <a:noFill/>
          <a:ln w="31115" cap="rnd">
            <a:solidFill>
              <a:srgbClr val="E27A55"/>
            </a:solidFill>
            <a:prstDash val="solid"/>
            <a:round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7"/>
          <p:cNvSpPr/>
          <p:nvPr/>
        </p:nvSpPr>
        <p:spPr>
          <a:xfrm>
            <a:off x="800100" y="6511925"/>
            <a:ext cx="965377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Hohe Härte, Maßhaltigkeit und blanke Oberfläche ohne Oxidation oder Zunder. Abgeschreckt wird mit Druckgas (Stickstoff/Helium) – milder und mit geringem Verzug.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800100" y="7759700"/>
            <a:ext cx="1030986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Hochlegierte Werkzeug- &amp; Schnellarbeitsstähle</a:t>
            </a:r>
            <a:endParaRPr lang="en-US" sz="1875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l="26679" r="26679"/>
          <a:stretch/>
        </p:blipFill>
        <p:spPr>
          <a:xfrm>
            <a:off x="10972800" y="0"/>
            <a:ext cx="7315200" cy="10287000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0E4DC2D2-3360-CF29-E791-5C72647BDC36}"/>
              </a:ext>
            </a:extLst>
          </p:cNvPr>
          <p:cNvSpPr/>
          <p:nvPr/>
        </p:nvSpPr>
        <p:spPr>
          <a:xfrm>
            <a:off x="800100" y="4592638"/>
            <a:ext cx="1030986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1875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Zahnräder · Wellen · </a:t>
            </a:r>
            <a:r>
              <a:rPr lang="en-US" sz="1875" b="1" dirty="0" err="1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Ventilstößel</a:t>
            </a:r>
            <a:r>
              <a:rPr lang="en-US" sz="1875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875" b="1" dirty="0" err="1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hochbeanspruchte</a:t>
            </a:r>
            <a:r>
              <a:rPr lang="en-US" sz="1875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Bauteile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51" r="51"/>
          <a:stretch/>
        </p:blipFill>
        <p:spPr>
          <a:xfrm>
            <a:off x="0" y="0"/>
            <a:ext cx="7498060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38723" y="1214437"/>
            <a:ext cx="45379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A4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VERFAHREN · NE-METALLE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7250569" y="2492375"/>
            <a:ext cx="3135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38723" y="2644775"/>
            <a:ext cx="1010871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Aluminium Härten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38723" y="3709987"/>
            <a:ext cx="7456170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75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Aushärtung nicht über Gefügeumwandlung, sondern durch Ausscheidungshärtung: Lösungsglühen bei ca. 500 °C, Abschrecken und Kalt- oder Warmauslagern. Fein verteilte Ausscheidungen erhöhen Streckgrenze und Festigkeit.</a:t>
            </a:r>
            <a:endParaRPr lang="en-US" sz="2175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8160" y="5921375"/>
            <a:ext cx="4953000" cy="1428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98160" y="7597775"/>
            <a:ext cx="10108714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AlMgSi · AlZnMgCu · AlCuMg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>
            <a:extLst>
              <a:ext uri="{FF2B5EF4-FFF2-40B4-BE49-F238E27FC236}">
                <a16:creationId xmlns:a16="http://schemas.microsoft.com/office/drawing/2014/main" id="{9873B29E-42D7-6F50-BA58-D6BF421AD62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64101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A4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VERFAHREN · OBERFLÄCHENTECHNIK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23804" y="952500"/>
            <a:ext cx="7878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13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690386"/>
            <a:ext cx="7893050" cy="514350"/>
          </a:xfrm>
          <a:prstGeom prst="rect">
            <a:avLst/>
          </a:prstGeom>
          <a:solidFill>
            <a:schemeClr val="accent2"/>
          </a:solidFill>
          <a:ln w="6350">
            <a:solidFill>
              <a:srgbClr val="35506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42AB4C45-936A-6F73-EB54-ECBD2D232D98}"/>
              </a:ext>
            </a:extLst>
          </p:cNvPr>
          <p:cNvGrpSpPr/>
          <p:nvPr/>
        </p:nvGrpSpPr>
        <p:grpSpPr>
          <a:xfrm>
            <a:off x="9493002" y="2788328"/>
            <a:ext cx="7524750" cy="6410325"/>
            <a:chOff x="9309100" y="2343150"/>
            <a:chExt cx="8026400" cy="7019925"/>
          </a:xfrm>
        </p:grpSpPr>
        <p:sp>
          <p:nvSpPr>
            <p:cNvPr id="12" name="Shape 9"/>
            <p:cNvSpPr/>
            <p:nvPr/>
          </p:nvSpPr>
          <p:spPr>
            <a:xfrm>
              <a:off x="9309100" y="2381250"/>
              <a:ext cx="8020050" cy="6981825"/>
            </a:xfrm>
            <a:prstGeom prst="rect">
              <a:avLst/>
            </a:prstGeom>
            <a:solidFill>
              <a:srgbClr val="0E1E2E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Shape 11"/>
            <p:cNvSpPr/>
            <p:nvPr/>
          </p:nvSpPr>
          <p:spPr>
            <a:xfrm>
              <a:off x="9315450" y="2343150"/>
              <a:ext cx="8020050" cy="38100"/>
            </a:xfrm>
            <a:prstGeom prst="rect">
              <a:avLst/>
            </a:prstGeom>
            <a:solidFill>
              <a:srgbClr val="A4302F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Text 14"/>
            <p:cNvSpPr/>
            <p:nvPr/>
          </p:nvSpPr>
          <p:spPr>
            <a:xfrm>
              <a:off x="9817101" y="3076575"/>
              <a:ext cx="3767425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31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Reinigungsstrahlen</a:t>
              </a:r>
              <a:endParaRPr lang="en-US" sz="3150" dirty="0"/>
            </a:p>
          </p:txBody>
        </p:sp>
        <p:pic>
          <p:nvPicPr>
            <p:cNvPr id="18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214600" y="2876550"/>
              <a:ext cx="1619250" cy="857250"/>
            </a:xfrm>
            <a:prstGeom prst="rect">
              <a:avLst/>
            </a:prstGeom>
          </p:spPr>
        </p:pic>
        <p:sp>
          <p:nvSpPr>
            <p:cNvPr id="19" name="Text 15"/>
            <p:cNvSpPr/>
            <p:nvPr/>
          </p:nvSpPr>
          <p:spPr>
            <a:xfrm>
              <a:off x="9817101" y="4438650"/>
              <a:ext cx="7227253" cy="1152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950" dirty="0">
                  <a:solidFill>
                    <a:srgbClr val="B9C6C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Strahlen zur Reinigung und Entzunderung – entfernt Zunder, Oxide und Anhaftungen und schafft eine definierte, saubere Oberfläche für die Weiterverarbeitung.</a:t>
              </a:r>
              <a:endParaRPr lang="en-US" sz="1950" dirty="0"/>
            </a:p>
          </p:txBody>
        </p:sp>
        <p:sp>
          <p:nvSpPr>
            <p:cNvPr id="20" name="Text 16"/>
            <p:cNvSpPr/>
            <p:nvPr/>
          </p:nvSpPr>
          <p:spPr>
            <a:xfrm>
              <a:off x="9817101" y="8559800"/>
              <a:ext cx="7227253" cy="3111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1875" b="1" dirty="0">
                  <a:solidFill>
                    <a:srgbClr val="E27A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Saubere, definierte Oberfläche</a:t>
              </a:r>
              <a:endParaRPr lang="en-US" sz="1875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1079500" y="1807123"/>
            <a:ext cx="776605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Mechanische Oberflächenbearbeitung · ohne Wärmebehandlung</a:t>
            </a:r>
            <a:endParaRPr lang="en-US" sz="1875" dirty="0">
              <a:solidFill>
                <a:schemeClr val="bg1"/>
              </a:solidFill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CC657B3-DEE1-E7AE-1C78-521BA6780ACD}"/>
              </a:ext>
            </a:extLst>
          </p:cNvPr>
          <p:cNvGrpSpPr/>
          <p:nvPr/>
        </p:nvGrpSpPr>
        <p:grpSpPr>
          <a:xfrm>
            <a:off x="958314" y="2765073"/>
            <a:ext cx="7348436" cy="6400813"/>
            <a:chOff x="952500" y="2343150"/>
            <a:chExt cx="8026400" cy="6991350"/>
          </a:xfrm>
        </p:grpSpPr>
        <p:sp>
          <p:nvSpPr>
            <p:cNvPr id="7" name="Shape 5"/>
            <p:cNvSpPr/>
            <p:nvPr/>
          </p:nvSpPr>
          <p:spPr>
            <a:xfrm>
              <a:off x="952500" y="2343150"/>
              <a:ext cx="8020050" cy="6991350"/>
            </a:xfrm>
            <a:prstGeom prst="rect">
              <a:avLst/>
            </a:prstGeom>
            <a:solidFill>
              <a:srgbClr val="0E1E2E"/>
            </a:solidFill>
            <a:ln w="6350">
              <a:solidFill>
                <a:srgbClr val="263B4C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 6"/>
            <p:cNvSpPr/>
            <p:nvPr/>
          </p:nvSpPr>
          <p:spPr>
            <a:xfrm>
              <a:off x="1454150" y="3044825"/>
              <a:ext cx="3668762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10000"/>
            </a:bodyPr>
            <a:lstStyle/>
            <a:p>
              <a:pPr marL="0" indent="0" algn="l">
                <a:buNone/>
              </a:pPr>
              <a:r>
                <a:rPr lang="en-US" sz="31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Festigkeitsstrahlen</a:t>
              </a:r>
              <a:endParaRPr lang="en-US" sz="3150" dirty="0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51650" y="2844800"/>
              <a:ext cx="1619250" cy="857250"/>
            </a:xfrm>
            <a:prstGeom prst="rect">
              <a:avLst/>
            </a:prstGeom>
          </p:spPr>
        </p:pic>
        <p:sp>
          <p:nvSpPr>
            <p:cNvPr id="10" name="Text 7"/>
            <p:cNvSpPr/>
            <p:nvPr/>
          </p:nvSpPr>
          <p:spPr>
            <a:xfrm>
              <a:off x="1454150" y="4406900"/>
              <a:ext cx="7227253" cy="1152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950" dirty="0">
                  <a:solidFill>
                    <a:srgbClr val="B9C6C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Mechanische Randschichtverfestigung (Shot Peening): Strahlmittel erzeugen Druckeigenspannungen, die Ermüdungsrisse hemmen und die Schwingfestigkeit erhöhen.</a:t>
              </a:r>
              <a:endParaRPr lang="en-US" sz="19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1454150" y="8559800"/>
              <a:ext cx="7227253" cy="3111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1875" b="1" dirty="0">
                  <a:solidFill>
                    <a:srgbClr val="E27A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Bis zu 30 % längere Lebensdauer</a:t>
              </a:r>
              <a:endParaRPr lang="en-US" sz="1875" dirty="0"/>
            </a:p>
          </p:txBody>
        </p:sp>
        <p:sp>
          <p:nvSpPr>
            <p:cNvPr id="21" name="Shape 11">
              <a:extLst>
                <a:ext uri="{FF2B5EF4-FFF2-40B4-BE49-F238E27FC236}">
                  <a16:creationId xmlns:a16="http://schemas.microsoft.com/office/drawing/2014/main" id="{A82BB601-2874-C1A0-62F0-BC3681DCD065}"/>
                </a:ext>
              </a:extLst>
            </p:cNvPr>
            <p:cNvSpPr/>
            <p:nvPr/>
          </p:nvSpPr>
          <p:spPr>
            <a:xfrm>
              <a:off x="958850" y="2349500"/>
              <a:ext cx="8020050" cy="38100"/>
            </a:xfrm>
            <a:prstGeom prst="rect">
              <a:avLst/>
            </a:prstGeom>
            <a:solidFill>
              <a:srgbClr val="A4302F"/>
            </a:solidFill>
            <a:ln/>
          </p:spPr>
          <p:txBody>
            <a:bodyPr/>
            <a:lstStyle/>
            <a:p>
              <a:endParaRPr lang="de-DE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>
            <a:extLst>
              <a:ext uri="{FF2B5EF4-FFF2-40B4-BE49-F238E27FC236}">
                <a16:creationId xmlns:a16="http://schemas.microsoft.com/office/drawing/2014/main" id="{DA4F9E9B-35BD-5791-E03E-716477F0FFB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A4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ANLAGENPARK · LEIPZIG &amp; WUPPERTAL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46150" y="1533033"/>
            <a:ext cx="180213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Kapazität und Verfahrensbreite unter einem Dach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908598"/>
            <a:ext cx="4174431" cy="990600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952500" y="3892848"/>
            <a:ext cx="4174431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952500" y="2908598"/>
            <a:ext cx="4174431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952500" y="2908598"/>
            <a:ext cx="38100" cy="99060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5120581" y="2908598"/>
            <a:ext cx="9525" cy="990600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09135" y="3107134"/>
            <a:ext cx="952500" cy="631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82000"/>
              </a:lnSpc>
              <a:buNone/>
            </a:pPr>
            <a:r>
              <a:rPr lang="en-US" sz="4400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052135" y="3105448"/>
            <a:ext cx="2644917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 err="1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Vakuumhärteanlage</a:t>
            </a: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Kammern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98381" y="2908598"/>
            <a:ext cx="4134148" cy="990600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5298381" y="3892848"/>
            <a:ext cx="4134148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5298381" y="2908598"/>
            <a:ext cx="4134148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5298381" y="2908598"/>
            <a:ext cx="38100" cy="99060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9426178" y="2908598"/>
            <a:ext cx="9525" cy="990600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241830" y="3107134"/>
            <a:ext cx="952500" cy="631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82000"/>
              </a:lnSpc>
              <a:buNone/>
            </a:pPr>
            <a:r>
              <a:rPr lang="en-US" sz="4400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384830" y="3209143"/>
            <a:ext cx="278035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Mehrzweckkammeröfen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952500" y="4070648"/>
            <a:ext cx="4174431" cy="987227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952500" y="5051524"/>
            <a:ext cx="4174431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952500" y="4070648"/>
            <a:ext cx="4174431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952500" y="4070648"/>
            <a:ext cx="38100" cy="987227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5120581" y="4070648"/>
            <a:ext cx="9525" cy="987227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909135" y="4267498"/>
            <a:ext cx="952500" cy="631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82000"/>
              </a:lnSpc>
              <a:buNone/>
            </a:pPr>
            <a:r>
              <a:rPr lang="en-US" sz="4400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2052135" y="4421386"/>
            <a:ext cx="17703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Schachtöfen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5298381" y="4070648"/>
            <a:ext cx="4134148" cy="987227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5298381" y="5051524"/>
            <a:ext cx="4134148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5298381" y="4070648"/>
            <a:ext cx="4134148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5298381" y="4070648"/>
            <a:ext cx="38100" cy="987227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9426178" y="4070648"/>
            <a:ext cx="9525" cy="987227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5241830" y="4267498"/>
            <a:ext cx="952500" cy="631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82000"/>
              </a:lnSpc>
              <a:buNone/>
            </a:pPr>
            <a:r>
              <a:rPr lang="en-US" sz="4400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6384830" y="4226631"/>
            <a:ext cx="269776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Doppelkammer­durchstoßofen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952500" y="5229324"/>
            <a:ext cx="4174431" cy="987227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952500" y="6210201"/>
            <a:ext cx="4174431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952500" y="5229324"/>
            <a:ext cx="4174431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952500" y="5229324"/>
            <a:ext cx="38100" cy="987227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Shape 35"/>
          <p:cNvSpPr/>
          <p:nvPr/>
        </p:nvSpPr>
        <p:spPr>
          <a:xfrm>
            <a:off x="5120581" y="5229324"/>
            <a:ext cx="9525" cy="987227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909135" y="5426175"/>
            <a:ext cx="952500" cy="631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82000"/>
              </a:lnSpc>
              <a:buNone/>
            </a:pPr>
            <a:r>
              <a:rPr lang="en-US" sz="4400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2052135" y="5580063"/>
            <a:ext cx="26360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Durchlaufbandanlagen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5288856" y="5237060"/>
            <a:ext cx="4134148" cy="987227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1" name="Shape 39"/>
          <p:cNvSpPr/>
          <p:nvPr/>
        </p:nvSpPr>
        <p:spPr>
          <a:xfrm>
            <a:off x="5298381" y="6210201"/>
            <a:ext cx="4134148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2" name="Shape 40"/>
          <p:cNvSpPr/>
          <p:nvPr/>
        </p:nvSpPr>
        <p:spPr>
          <a:xfrm>
            <a:off x="5298381" y="5229324"/>
            <a:ext cx="4134148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5298381" y="5229324"/>
            <a:ext cx="38100" cy="987227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Shape 42"/>
          <p:cNvSpPr/>
          <p:nvPr/>
        </p:nvSpPr>
        <p:spPr>
          <a:xfrm>
            <a:off x="9426178" y="5229324"/>
            <a:ext cx="9525" cy="987227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5261393" y="5426175"/>
            <a:ext cx="952500" cy="631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82000"/>
              </a:lnSpc>
              <a:buNone/>
            </a:pPr>
            <a:r>
              <a:rPr lang="en-US" sz="4400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46" name="Text 44"/>
          <p:cNvSpPr/>
          <p:nvPr/>
        </p:nvSpPr>
        <p:spPr>
          <a:xfrm>
            <a:off x="6384829" y="5541153"/>
            <a:ext cx="18227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Hubherdöfen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952500" y="6388001"/>
            <a:ext cx="4174431" cy="987227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8" name="Shape 46"/>
          <p:cNvSpPr/>
          <p:nvPr/>
        </p:nvSpPr>
        <p:spPr>
          <a:xfrm>
            <a:off x="952500" y="7368877"/>
            <a:ext cx="4174431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Shape 47"/>
          <p:cNvSpPr/>
          <p:nvPr/>
        </p:nvSpPr>
        <p:spPr>
          <a:xfrm>
            <a:off x="952500" y="6388001"/>
            <a:ext cx="4174431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0" name="Shape 48"/>
          <p:cNvSpPr/>
          <p:nvPr/>
        </p:nvSpPr>
        <p:spPr>
          <a:xfrm>
            <a:off x="952500" y="6388001"/>
            <a:ext cx="38100" cy="987227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1" name="Shape 49"/>
          <p:cNvSpPr/>
          <p:nvPr/>
        </p:nvSpPr>
        <p:spPr>
          <a:xfrm>
            <a:off x="5120581" y="6388001"/>
            <a:ext cx="9525" cy="987227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/>
          <p:nvPr/>
        </p:nvSpPr>
        <p:spPr>
          <a:xfrm>
            <a:off x="909135" y="6584851"/>
            <a:ext cx="952500" cy="631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82000"/>
              </a:lnSpc>
              <a:buNone/>
            </a:pPr>
            <a:r>
              <a:rPr lang="en-US" sz="4400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53" name="Text 51"/>
          <p:cNvSpPr/>
          <p:nvPr/>
        </p:nvSpPr>
        <p:spPr>
          <a:xfrm>
            <a:off x="2052135" y="6738739"/>
            <a:ext cx="28409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Festigkeitsstrahlanlagen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5279330" y="6388001"/>
            <a:ext cx="4134148" cy="987227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5" name="Shape 53"/>
          <p:cNvSpPr/>
          <p:nvPr/>
        </p:nvSpPr>
        <p:spPr>
          <a:xfrm>
            <a:off x="5298381" y="7368877"/>
            <a:ext cx="4134148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6" name="Shape 54"/>
          <p:cNvSpPr/>
          <p:nvPr/>
        </p:nvSpPr>
        <p:spPr>
          <a:xfrm>
            <a:off x="5298381" y="6388001"/>
            <a:ext cx="4134148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7" name="Shape 55"/>
          <p:cNvSpPr/>
          <p:nvPr/>
        </p:nvSpPr>
        <p:spPr>
          <a:xfrm>
            <a:off x="5298381" y="6388001"/>
            <a:ext cx="38100" cy="987227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8" name="Shape 56"/>
          <p:cNvSpPr/>
          <p:nvPr/>
        </p:nvSpPr>
        <p:spPr>
          <a:xfrm>
            <a:off x="9426178" y="6388001"/>
            <a:ext cx="9525" cy="987227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9" name="Text 57"/>
          <p:cNvSpPr/>
          <p:nvPr/>
        </p:nvSpPr>
        <p:spPr>
          <a:xfrm>
            <a:off x="5261393" y="6584851"/>
            <a:ext cx="952500" cy="631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82000"/>
              </a:lnSpc>
              <a:buNone/>
            </a:pPr>
            <a:r>
              <a:rPr lang="en-US" sz="4400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60" name="Text 58"/>
          <p:cNvSpPr/>
          <p:nvPr/>
        </p:nvSpPr>
        <p:spPr>
          <a:xfrm>
            <a:off x="6410878" y="6628289"/>
            <a:ext cx="290811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Schachtofen­nitrieranlage</a:t>
            </a:r>
            <a:endParaRPr lang="en-US" sz="1875" dirty="0"/>
          </a:p>
        </p:txBody>
      </p:sp>
      <p:sp>
        <p:nvSpPr>
          <p:cNvPr id="61" name="Shape 59"/>
          <p:cNvSpPr/>
          <p:nvPr/>
        </p:nvSpPr>
        <p:spPr>
          <a:xfrm>
            <a:off x="946150" y="7546678"/>
            <a:ext cx="4174431" cy="1289050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2" name="Shape 60"/>
          <p:cNvSpPr/>
          <p:nvPr/>
        </p:nvSpPr>
        <p:spPr>
          <a:xfrm>
            <a:off x="952500" y="8829378"/>
            <a:ext cx="4174431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3" name="Shape 61"/>
          <p:cNvSpPr/>
          <p:nvPr/>
        </p:nvSpPr>
        <p:spPr>
          <a:xfrm>
            <a:off x="952500" y="7546678"/>
            <a:ext cx="4174431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4" name="Shape 62"/>
          <p:cNvSpPr/>
          <p:nvPr/>
        </p:nvSpPr>
        <p:spPr>
          <a:xfrm>
            <a:off x="952500" y="7546678"/>
            <a:ext cx="38100" cy="128905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5" name="Shape 63"/>
          <p:cNvSpPr/>
          <p:nvPr/>
        </p:nvSpPr>
        <p:spPr>
          <a:xfrm>
            <a:off x="5120581" y="7546678"/>
            <a:ext cx="9525" cy="1289050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6" name="Text 64"/>
          <p:cNvSpPr/>
          <p:nvPr/>
        </p:nvSpPr>
        <p:spPr>
          <a:xfrm>
            <a:off x="909135" y="7894439"/>
            <a:ext cx="952500" cy="631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82000"/>
              </a:lnSpc>
              <a:buNone/>
            </a:pPr>
            <a:r>
              <a:rPr lang="en-US" sz="4400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67" name="Text 65"/>
          <p:cNvSpPr/>
          <p:nvPr/>
        </p:nvSpPr>
        <p:spPr>
          <a:xfrm>
            <a:off x="2052135" y="7743527"/>
            <a:ext cx="2644917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 err="1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Aluminium</a:t>
            </a: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-Anlage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2 Lösungsglüh- &amp; Auslagerungsöfen</a:t>
            </a:r>
            <a:endParaRPr lang="en-US" sz="1875" dirty="0"/>
          </a:p>
        </p:txBody>
      </p: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61CCD821-6004-B436-8CEF-21F0A7B61F60}"/>
              </a:ext>
            </a:extLst>
          </p:cNvPr>
          <p:cNvGrpSpPr/>
          <p:nvPr/>
        </p:nvGrpSpPr>
        <p:grpSpPr>
          <a:xfrm>
            <a:off x="10178707" y="2508713"/>
            <a:ext cx="7194893" cy="6691356"/>
            <a:chOff x="9889729" y="2409825"/>
            <a:chExt cx="7445771" cy="6924676"/>
          </a:xfrm>
        </p:grpSpPr>
        <p:pic>
          <p:nvPicPr>
            <p:cNvPr id="69" name="Image 0" descr="preencoded.png"/>
            <p:cNvPicPr>
              <a:picLocks noChangeAspect="1"/>
            </p:cNvPicPr>
            <p:nvPr/>
          </p:nvPicPr>
          <p:blipFill>
            <a:blip r:embed="rId3"/>
            <a:srcRect l="14681" r="14681"/>
            <a:stretch/>
          </p:blipFill>
          <p:spPr>
            <a:xfrm>
              <a:off x="9889729" y="2409825"/>
              <a:ext cx="3646686" cy="3386138"/>
            </a:xfrm>
            <a:prstGeom prst="rect">
              <a:avLst/>
            </a:prstGeom>
          </p:spPr>
        </p:pic>
        <p:pic>
          <p:nvPicPr>
            <p:cNvPr id="71" name="Image 1" descr="preencoded.png"/>
            <p:cNvPicPr>
              <a:picLocks noChangeAspect="1"/>
            </p:cNvPicPr>
            <p:nvPr/>
          </p:nvPicPr>
          <p:blipFill>
            <a:blip r:embed="rId4"/>
            <a:srcRect l="11091" r="11091"/>
            <a:stretch/>
          </p:blipFill>
          <p:spPr>
            <a:xfrm>
              <a:off x="13688814" y="2409825"/>
              <a:ext cx="3646686" cy="3386138"/>
            </a:xfrm>
            <a:prstGeom prst="rect">
              <a:avLst/>
            </a:prstGeom>
          </p:spPr>
        </p:pic>
        <p:pic>
          <p:nvPicPr>
            <p:cNvPr id="73" name="Image 2" descr="preencoded.png"/>
            <p:cNvPicPr>
              <a:picLocks noChangeAspect="1"/>
            </p:cNvPicPr>
            <p:nvPr/>
          </p:nvPicPr>
          <p:blipFill>
            <a:blip r:embed="rId5"/>
            <a:srcRect l="9615" r="9615"/>
            <a:stretch/>
          </p:blipFill>
          <p:spPr>
            <a:xfrm>
              <a:off x="9889729" y="5948363"/>
              <a:ext cx="3646686" cy="3386138"/>
            </a:xfrm>
            <a:prstGeom prst="rect">
              <a:avLst/>
            </a:prstGeom>
          </p:spPr>
        </p:pic>
        <p:pic>
          <p:nvPicPr>
            <p:cNvPr id="75" name="Image 3" descr="preencoded.png"/>
            <p:cNvPicPr>
              <a:picLocks noChangeAspect="1"/>
            </p:cNvPicPr>
            <p:nvPr/>
          </p:nvPicPr>
          <p:blipFill>
            <a:blip r:embed="rId6"/>
            <a:srcRect l="14680" r="14680"/>
            <a:stretch/>
          </p:blipFill>
          <p:spPr>
            <a:xfrm>
              <a:off x="13688814" y="5948363"/>
              <a:ext cx="3646686" cy="33861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>
            <a:extLst>
              <a:ext uri="{FF2B5EF4-FFF2-40B4-BE49-F238E27FC236}">
                <a16:creationId xmlns:a16="http://schemas.microsoft.com/office/drawing/2014/main" id="{FD9D7B1B-9D6B-B836-EF89-D2A37A62FAA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A4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QUALITÄT &amp; PROZESSSICHERHEIT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28750"/>
            <a:ext cx="180213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Nachweisbar zertifiziert, kundenspezifisch freigegeben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447925"/>
            <a:ext cx="7092275" cy="1429941"/>
          </a:xfrm>
          <a:prstGeom prst="rect">
            <a:avLst/>
          </a:prstGeom>
          <a:solidFill>
            <a:srgbClr val="0E1E2E"/>
          </a:solidFill>
          <a:ln>
            <a:solidFill>
              <a:srgbClr val="263B4C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952500" y="2447925"/>
            <a:ext cx="38100" cy="1429941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409700" y="2943820"/>
            <a:ext cx="3207534" cy="476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IATF 16949:2016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11390" y="2816225"/>
            <a:ext cx="4535632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Qualitätsmanagement für die Automobilindustrie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" y="4106466"/>
            <a:ext cx="7092275" cy="1174750"/>
          </a:xfrm>
          <a:prstGeom prst="rect">
            <a:avLst/>
          </a:prstGeom>
          <a:solidFill>
            <a:srgbClr val="0E1E2E"/>
          </a:solidFill>
          <a:ln>
            <a:solidFill>
              <a:srgbClr val="263B4C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956673" y="4110699"/>
            <a:ext cx="38100" cy="117475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1409700" y="4474766"/>
            <a:ext cx="2003713" cy="476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 50001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517007" y="4520505"/>
            <a:ext cx="4512310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Systematisches Energiemanagement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9161" y="5516166"/>
            <a:ext cx="7098625" cy="3187339"/>
          </a:xfrm>
          <a:prstGeom prst="rect">
            <a:avLst/>
          </a:prstGeom>
          <a:solidFill>
            <a:srgbClr val="0E1E2E"/>
          </a:solidFill>
          <a:ln w="6350">
            <a:solidFill>
              <a:srgbClr val="263B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358224" y="6205162"/>
            <a:ext cx="62744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KUNDENSPEZIFISCHE FREIGABEN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58224" y="6913166"/>
            <a:ext cx="633284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Freigaben für die Branchen Windkraft und Automotive – auf Basis kundenindividueller Prüf- und Prozessanforderungen.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9144000" y="8913055"/>
            <a:ext cx="36053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algn="ctr"/>
            <a:r>
              <a:rPr lang="en-US" sz="3000" b="1" dirty="0" err="1">
                <a:solidFill>
                  <a:srgbClr val="E27A55"/>
                </a:solidFill>
                <a:latin typeface="Arial" pitchFamily="34" charset="0"/>
                <a:cs typeface="Arial" pitchFamily="34" charset="-120"/>
              </a:rPr>
              <a:t>Standort</a:t>
            </a:r>
            <a:r>
              <a:rPr lang="en-US" sz="3000" b="1" dirty="0">
                <a:solidFill>
                  <a:srgbClr val="E27A55"/>
                </a:solidFill>
                <a:latin typeface="Arial" pitchFamily="34" charset="0"/>
                <a:cs typeface="Arial" pitchFamily="34" charset="-120"/>
              </a:rPr>
              <a:t> Leipzig</a:t>
            </a:r>
          </a:p>
        </p:txBody>
      </p:sp>
      <p:sp>
        <p:nvSpPr>
          <p:cNvPr id="27" name="Text 23"/>
          <p:cNvSpPr/>
          <p:nvPr/>
        </p:nvSpPr>
        <p:spPr>
          <a:xfrm>
            <a:off x="13789680" y="8872464"/>
            <a:ext cx="36053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 err="1">
                <a:solidFill>
                  <a:srgbClr val="E27A55"/>
                </a:solidFill>
                <a:latin typeface="Arial" pitchFamily="34" charset="0"/>
                <a:cs typeface="Arial" pitchFamily="34" charset="-120"/>
              </a:rPr>
              <a:t>Standort</a:t>
            </a:r>
            <a:r>
              <a:rPr lang="en-US" sz="1900" b="1" dirty="0">
                <a:solidFill>
                  <a:srgbClr val="E27A55"/>
                </a:solidFill>
                <a:latin typeface="Arial" pitchFamily="34" charset="0"/>
                <a:cs typeface="Arial" pitchFamily="34" charset="-120"/>
              </a:rPr>
              <a:t> Wuppertal</a:t>
            </a: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45AFEF77-7297-D94B-F8A2-9B7DE0865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665" y="2447925"/>
            <a:ext cx="4390046" cy="624923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BF0CBA3A-F9AC-C5F7-0FB6-FF3E1132F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7882" y="2447925"/>
            <a:ext cx="4406250" cy="6249230"/>
          </a:xfrm>
          <a:prstGeom prst="rect">
            <a:avLst/>
          </a:prstGeom>
        </p:spPr>
      </p:pic>
      <p:sp>
        <p:nvSpPr>
          <p:cNvPr id="34" name="Shape 13">
            <a:extLst>
              <a:ext uri="{FF2B5EF4-FFF2-40B4-BE49-F238E27FC236}">
                <a16:creationId xmlns:a16="http://schemas.microsoft.com/office/drawing/2014/main" id="{D66E8870-85D1-D20A-5CC3-102121A72A96}"/>
              </a:ext>
            </a:extLst>
          </p:cNvPr>
          <p:cNvSpPr/>
          <p:nvPr/>
        </p:nvSpPr>
        <p:spPr>
          <a:xfrm flipH="1">
            <a:off x="938472" y="5522515"/>
            <a:ext cx="45719" cy="3174639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>
            <a:extLst>
              <a:ext uri="{FF2B5EF4-FFF2-40B4-BE49-F238E27FC236}">
                <a16:creationId xmlns:a16="http://schemas.microsoft.com/office/drawing/2014/main" id="{2C72D13B-E9D9-3F3D-7548-7D1E4C33D7B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0"/>
          <p:cNvSpPr/>
          <p:nvPr/>
        </p:nvSpPr>
        <p:spPr>
          <a:xfrm>
            <a:off x="990600" y="1432422"/>
            <a:ext cx="13665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b="1" kern="0" spc="396" dirty="0">
                <a:solidFill>
                  <a:srgbClr val="A4302F"/>
                </a:solidFill>
                <a:latin typeface="Arial" pitchFamily="34" charset="0"/>
                <a:cs typeface="Arial" pitchFamily="34" charset="-120"/>
              </a:rPr>
              <a:t>IHR</a:t>
            </a:r>
            <a:r>
              <a:rPr lang="en-US" sz="1800" b="1" kern="0" spc="396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kern="0" spc="396" dirty="0">
                <a:solidFill>
                  <a:srgbClr val="A4302F"/>
                </a:solidFill>
                <a:latin typeface="Arial" pitchFamily="34" charset="0"/>
                <a:cs typeface="Arial" pitchFamily="34" charset="-120"/>
              </a:rPr>
              <a:t>NUTZEN</a:t>
            </a:r>
          </a:p>
        </p:txBody>
      </p:sp>
      <p:sp>
        <p:nvSpPr>
          <p:cNvPr id="4" name="Text 1"/>
          <p:cNvSpPr/>
          <p:nvPr/>
        </p:nvSpPr>
        <p:spPr>
          <a:xfrm>
            <a:off x="952500" y="2059037"/>
            <a:ext cx="13608050" cy="1841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</a:t>
            </a:r>
            <a:r>
              <a:rPr lang="en-US" sz="4200" b="1" dirty="0" err="1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</a:t>
            </a:r>
            <a:r>
              <a:rPr lang="en-US" sz="42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200" b="1" dirty="0" err="1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Wärmebehandlungsprozesse</a:t>
            </a:r>
            <a:r>
              <a:rPr lang="en-US" sz="42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Expertise für Ihre </a:t>
            </a:r>
            <a:r>
              <a:rPr lang="en-US" sz="4200" b="1" dirty="0" err="1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Fertigung</a:t>
            </a:r>
            <a:r>
              <a:rPr lang="en-US" sz="42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200" b="1" dirty="0" err="1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bedeutet</a:t>
            </a:r>
            <a:r>
              <a:rPr lang="en-US" sz="42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!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952500" y="4569619"/>
            <a:ext cx="114300" cy="11430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1295400" y="4417219"/>
            <a:ext cx="56261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7A55"/>
                </a:solidFill>
                <a:latin typeface="Arial" pitchFamily="34" charset="0"/>
                <a:cs typeface="Arial" pitchFamily="34" charset="-120"/>
              </a:rPr>
              <a:t>Ein Partner für das </a:t>
            </a:r>
            <a:r>
              <a:rPr lang="en-US" sz="2400" b="1" dirty="0" err="1">
                <a:solidFill>
                  <a:srgbClr val="E27A55"/>
                </a:solidFill>
                <a:latin typeface="Arial" pitchFamily="34" charset="0"/>
                <a:cs typeface="Arial" pitchFamily="34" charset="-120"/>
              </a:rPr>
              <a:t>gesamte</a:t>
            </a:r>
            <a:r>
              <a:rPr lang="en-US" sz="2400" b="1" dirty="0">
                <a:solidFill>
                  <a:srgbClr val="E27A55"/>
                </a:solidFill>
                <a:latin typeface="Arial" pitchFamily="34" charset="0"/>
                <a:cs typeface="Arial" pitchFamily="34" charset="-120"/>
              </a:rPr>
              <a:t> Spektrum</a:t>
            </a:r>
          </a:p>
        </p:txBody>
      </p:sp>
      <p:sp>
        <p:nvSpPr>
          <p:cNvPr id="7" name="Text 4"/>
          <p:cNvSpPr/>
          <p:nvPr/>
        </p:nvSpPr>
        <p:spPr>
          <a:xfrm>
            <a:off x="1295400" y="4843463"/>
            <a:ext cx="5140833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Verfahren an zwei Standorten – kürzere Lieferketten, ein Ansprechpartner.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8077200" y="4566444"/>
            <a:ext cx="114300" cy="11430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8420100" y="4414044"/>
            <a:ext cx="549021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2400" b="1" dirty="0" err="1">
                <a:solidFill>
                  <a:srgbClr val="E27A55"/>
                </a:solidFill>
                <a:latin typeface="Arial" pitchFamily="34" charset="0"/>
                <a:cs typeface="Arial" pitchFamily="34" charset="-120"/>
              </a:rPr>
              <a:t>Reproduzierbare</a:t>
            </a:r>
            <a:r>
              <a:rPr lang="en-US" sz="2400" b="1" dirty="0">
                <a:solidFill>
                  <a:srgbClr val="E27A5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E27A55"/>
                </a:solidFill>
                <a:latin typeface="Arial" pitchFamily="34" charset="0"/>
                <a:cs typeface="Arial" pitchFamily="34" charset="-120"/>
              </a:rPr>
              <a:t>Ergebnisse</a:t>
            </a:r>
            <a:endParaRPr lang="en-US" sz="2400" b="1" dirty="0">
              <a:solidFill>
                <a:srgbClr val="E27A5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420100" y="4839494"/>
            <a:ext cx="5140833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Prozesssichere, dokumentierte Härtewerte – Serie für Serie.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952500" y="6538714"/>
            <a:ext cx="114300" cy="11430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1295400" y="6386314"/>
            <a:ext cx="549021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7A55"/>
                </a:solidFill>
                <a:latin typeface="Arial" pitchFamily="34" charset="0"/>
                <a:cs typeface="Arial" pitchFamily="34" charset="-120"/>
              </a:rPr>
              <a:t>Weniger</a:t>
            </a:r>
            <a:r>
              <a:rPr lang="en-US" sz="24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E27A55"/>
                </a:solidFill>
                <a:latin typeface="Arial" pitchFamily="34" charset="0"/>
                <a:cs typeface="Arial" pitchFamily="34" charset="-120"/>
              </a:rPr>
              <a:t>Nacharbeit</a:t>
            </a:r>
            <a:endParaRPr lang="en-US" sz="2400" b="1" dirty="0">
              <a:solidFill>
                <a:srgbClr val="E27A5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295400" y="6811764"/>
            <a:ext cx="6203950" cy="1115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Verzugsarme Verfahren </a:t>
            </a:r>
            <a:r>
              <a:rPr lang="en-US" sz="1950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</a:t>
            </a:r>
            <a:r>
              <a:rPr lang="en-US" sz="19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Vakuumhärten</a:t>
            </a:r>
            <a:r>
              <a:rPr lang="en-US" sz="19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950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Niedergruckaufkohlen</a:t>
            </a:r>
            <a:r>
              <a:rPr lang="en-US" sz="19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 Nitrieren sichern hohe Maßhaltigkeit.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8077200" y="6538714"/>
            <a:ext cx="114300" cy="11430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8420100" y="6386314"/>
            <a:ext cx="549021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E27A55"/>
                </a:solidFill>
                <a:latin typeface="Arial" pitchFamily="34" charset="0"/>
                <a:cs typeface="Arial" pitchFamily="34" charset="-120"/>
              </a:rPr>
              <a:t>Längere</a:t>
            </a:r>
            <a:r>
              <a:rPr lang="en-US" sz="24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E27A55"/>
                </a:solidFill>
                <a:latin typeface="Arial" pitchFamily="34" charset="0"/>
                <a:cs typeface="Arial" pitchFamily="34" charset="-120"/>
              </a:rPr>
              <a:t>Bauteillebensdauer</a:t>
            </a:r>
            <a:endParaRPr lang="en-US" sz="2400" b="1" dirty="0">
              <a:solidFill>
                <a:srgbClr val="E27A5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420100" y="6811764"/>
            <a:ext cx="5765800" cy="14161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CFCFCF"/>
                </a:solidFill>
                <a:latin typeface="Arial" pitchFamily="34" charset="0"/>
                <a:cs typeface="Arial" pitchFamily="34" charset="-120"/>
              </a:rPr>
              <a:t>Verschleißfeste</a:t>
            </a:r>
            <a:r>
              <a:rPr lang="en-US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Randschichten</a:t>
            </a:r>
            <a:r>
              <a:rPr lang="en-US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</a:t>
            </a:r>
            <a:r>
              <a:rPr lang="en-US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ergänzende</a:t>
            </a:r>
            <a:r>
              <a:rPr lang="en-US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>
                <a:solidFill>
                  <a:srgbClr val="CFCFCF"/>
                </a:solidFill>
                <a:latin typeface="Arial" pitchFamily="34" charset="0"/>
                <a:cs typeface="Arial" pitchFamily="34" charset="-120"/>
              </a:rPr>
              <a:t>innovative</a:t>
            </a:r>
            <a:r>
              <a:rPr lang="en-US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Verfahren</a:t>
            </a:r>
            <a:r>
              <a:rPr lang="en-US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</a:t>
            </a:r>
            <a:r>
              <a:rPr lang="en-US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das Festigkeitsstrahlen erhöhen die Dauerfestigkeit.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A4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BRANCHEN &amp; REFERENZEN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28750"/>
            <a:ext cx="180213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Vertrauen aus anspruchsvollen Industrien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314575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ZIELBRANCHEN &amp; TYPISCHE BAUTEILE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752725"/>
            <a:ext cx="5334000" cy="2099866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952500" y="4846241"/>
            <a:ext cx="533400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952500" y="2752725"/>
            <a:ext cx="5334000" cy="3810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952500" y="2752725"/>
            <a:ext cx="9525" cy="2099866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6280150" y="2752725"/>
            <a:ext cx="9525" cy="2099866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4600" y="3000375"/>
            <a:ext cx="476250" cy="4762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44600" y="3590925"/>
            <a:ext cx="52247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Maschinenbau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244600" y="4019550"/>
            <a:ext cx="522478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Zahnräder · Wellen · Antriebselemente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477000" y="2752725"/>
            <a:ext cx="5334000" cy="2099866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6477000" y="4846241"/>
            <a:ext cx="533400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3"/>
          <p:cNvSpPr/>
          <p:nvPr/>
        </p:nvSpPr>
        <p:spPr>
          <a:xfrm>
            <a:off x="6477000" y="2752725"/>
            <a:ext cx="5334000" cy="3810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4"/>
          <p:cNvSpPr/>
          <p:nvPr/>
        </p:nvSpPr>
        <p:spPr>
          <a:xfrm>
            <a:off x="6477000" y="2752725"/>
            <a:ext cx="9525" cy="2099866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Shape 15"/>
          <p:cNvSpPr/>
          <p:nvPr/>
        </p:nvSpPr>
        <p:spPr>
          <a:xfrm>
            <a:off x="11804650" y="2752725"/>
            <a:ext cx="9525" cy="2099866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69100" y="3000375"/>
            <a:ext cx="476250" cy="4762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69100" y="3590925"/>
            <a:ext cx="52247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</a:t>
            </a:r>
            <a:endParaRPr lang="en-US" sz="2250" dirty="0"/>
          </a:p>
        </p:txBody>
      </p:sp>
      <p:sp>
        <p:nvSpPr>
          <p:cNvPr id="21" name="Text 17"/>
          <p:cNvSpPr/>
          <p:nvPr/>
        </p:nvSpPr>
        <p:spPr>
          <a:xfrm>
            <a:off x="6769100" y="4019550"/>
            <a:ext cx="4892294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Getriebe- &amp; Motorbauteile · Fahrwerk · Bremsen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12001500" y="2752725"/>
            <a:ext cx="5334000" cy="2099866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Shape 19"/>
          <p:cNvSpPr/>
          <p:nvPr/>
        </p:nvSpPr>
        <p:spPr>
          <a:xfrm>
            <a:off x="12001500" y="4846241"/>
            <a:ext cx="533400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Shape 20"/>
          <p:cNvSpPr/>
          <p:nvPr/>
        </p:nvSpPr>
        <p:spPr>
          <a:xfrm>
            <a:off x="12001500" y="2752725"/>
            <a:ext cx="5334000" cy="3810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21"/>
          <p:cNvSpPr/>
          <p:nvPr/>
        </p:nvSpPr>
        <p:spPr>
          <a:xfrm>
            <a:off x="12001500" y="2752725"/>
            <a:ext cx="9525" cy="2099866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Shape 22"/>
          <p:cNvSpPr/>
          <p:nvPr/>
        </p:nvSpPr>
        <p:spPr>
          <a:xfrm>
            <a:off x="17329150" y="2752725"/>
            <a:ext cx="9525" cy="2099866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93601" y="3000375"/>
            <a:ext cx="476250" cy="47625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2293601" y="3590925"/>
            <a:ext cx="52247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Land- &amp; Baumaschinen</a:t>
            </a:r>
            <a:endParaRPr lang="en-US" sz="2250" dirty="0"/>
          </a:p>
        </p:txBody>
      </p:sp>
      <p:sp>
        <p:nvSpPr>
          <p:cNvPr id="29" name="Text 24"/>
          <p:cNvSpPr/>
          <p:nvPr/>
        </p:nvSpPr>
        <p:spPr>
          <a:xfrm>
            <a:off x="12293601" y="4019550"/>
            <a:ext cx="522478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Hochbelastete Getriebe- &amp; Antriebsteile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952500" y="5043091"/>
            <a:ext cx="5334000" cy="2099866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Shape 26"/>
          <p:cNvSpPr/>
          <p:nvPr/>
        </p:nvSpPr>
        <p:spPr>
          <a:xfrm>
            <a:off x="952500" y="7136607"/>
            <a:ext cx="533400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Shape 27"/>
          <p:cNvSpPr/>
          <p:nvPr/>
        </p:nvSpPr>
        <p:spPr>
          <a:xfrm>
            <a:off x="952500" y="5043091"/>
            <a:ext cx="5334000" cy="3810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Shape 28"/>
          <p:cNvSpPr/>
          <p:nvPr/>
        </p:nvSpPr>
        <p:spPr>
          <a:xfrm>
            <a:off x="952500" y="5043091"/>
            <a:ext cx="9525" cy="2099866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Shape 29"/>
          <p:cNvSpPr/>
          <p:nvPr/>
        </p:nvSpPr>
        <p:spPr>
          <a:xfrm>
            <a:off x="6280150" y="5043091"/>
            <a:ext cx="9525" cy="2099866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4600" y="5290741"/>
            <a:ext cx="476250" cy="47625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244600" y="5881291"/>
            <a:ext cx="52247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Luftfahrt</a:t>
            </a:r>
            <a:endParaRPr lang="en-US" sz="2250" dirty="0"/>
          </a:p>
        </p:txBody>
      </p:sp>
      <p:sp>
        <p:nvSpPr>
          <p:cNvPr id="37" name="Text 31"/>
          <p:cNvSpPr/>
          <p:nvPr/>
        </p:nvSpPr>
        <p:spPr>
          <a:xfrm>
            <a:off x="1244600" y="6309916"/>
            <a:ext cx="4892294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Präzisionsteile mit erhöhten Prüfanforderungen</a:t>
            </a:r>
            <a:endParaRPr lang="en-US" sz="1800" dirty="0"/>
          </a:p>
        </p:txBody>
      </p:sp>
      <p:sp>
        <p:nvSpPr>
          <p:cNvPr id="38" name="Shape 32"/>
          <p:cNvSpPr/>
          <p:nvPr/>
        </p:nvSpPr>
        <p:spPr>
          <a:xfrm>
            <a:off x="6477000" y="5043091"/>
            <a:ext cx="5334000" cy="2099866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Shape 33"/>
          <p:cNvSpPr/>
          <p:nvPr/>
        </p:nvSpPr>
        <p:spPr>
          <a:xfrm>
            <a:off x="6477000" y="7136607"/>
            <a:ext cx="533400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0" name="Shape 34"/>
          <p:cNvSpPr/>
          <p:nvPr/>
        </p:nvSpPr>
        <p:spPr>
          <a:xfrm>
            <a:off x="6477000" y="5043091"/>
            <a:ext cx="5334000" cy="3810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1" name="Shape 35"/>
          <p:cNvSpPr/>
          <p:nvPr/>
        </p:nvSpPr>
        <p:spPr>
          <a:xfrm>
            <a:off x="6477000" y="5043091"/>
            <a:ext cx="9525" cy="2099866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2" name="Shape 36"/>
          <p:cNvSpPr/>
          <p:nvPr/>
        </p:nvSpPr>
        <p:spPr>
          <a:xfrm>
            <a:off x="11804650" y="5043091"/>
            <a:ext cx="9525" cy="2099866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69100" y="5290741"/>
            <a:ext cx="476250" cy="47625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6769100" y="5881291"/>
            <a:ext cx="52247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Bahntechnik</a:t>
            </a:r>
            <a:endParaRPr lang="en-US" sz="2250" dirty="0"/>
          </a:p>
        </p:txBody>
      </p:sp>
      <p:sp>
        <p:nvSpPr>
          <p:cNvPr id="45" name="Text 38"/>
          <p:cNvSpPr/>
          <p:nvPr/>
        </p:nvSpPr>
        <p:spPr>
          <a:xfrm>
            <a:off x="6769100" y="6309916"/>
            <a:ext cx="522478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Antriebs- &amp; Fahrwerkskomponenten</a:t>
            </a:r>
            <a:endParaRPr lang="en-US" sz="1800" dirty="0"/>
          </a:p>
        </p:txBody>
      </p:sp>
      <p:sp>
        <p:nvSpPr>
          <p:cNvPr id="46" name="Shape 39"/>
          <p:cNvSpPr/>
          <p:nvPr/>
        </p:nvSpPr>
        <p:spPr>
          <a:xfrm>
            <a:off x="12001500" y="5043091"/>
            <a:ext cx="5334000" cy="2099866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7" name="Shape 40"/>
          <p:cNvSpPr/>
          <p:nvPr/>
        </p:nvSpPr>
        <p:spPr>
          <a:xfrm>
            <a:off x="12001500" y="7136607"/>
            <a:ext cx="533400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8" name="Shape 41"/>
          <p:cNvSpPr/>
          <p:nvPr/>
        </p:nvSpPr>
        <p:spPr>
          <a:xfrm>
            <a:off x="12001500" y="5043091"/>
            <a:ext cx="5334000" cy="38100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Shape 42"/>
          <p:cNvSpPr/>
          <p:nvPr/>
        </p:nvSpPr>
        <p:spPr>
          <a:xfrm>
            <a:off x="12001500" y="5043091"/>
            <a:ext cx="9525" cy="2099866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0" name="Shape 43"/>
          <p:cNvSpPr/>
          <p:nvPr/>
        </p:nvSpPr>
        <p:spPr>
          <a:xfrm>
            <a:off x="17329150" y="5043091"/>
            <a:ext cx="9525" cy="2099866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293601" y="5290741"/>
            <a:ext cx="476250" cy="476250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12293601" y="5881291"/>
            <a:ext cx="52247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Industrielle Zulieferung</a:t>
            </a:r>
            <a:endParaRPr lang="en-US" sz="2250" dirty="0"/>
          </a:p>
        </p:txBody>
      </p:sp>
      <p:sp>
        <p:nvSpPr>
          <p:cNvPr id="53" name="Text 45"/>
          <p:cNvSpPr/>
          <p:nvPr/>
        </p:nvSpPr>
        <p:spPr>
          <a:xfrm>
            <a:off x="12293601" y="6309916"/>
            <a:ext cx="522478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Serien- &amp; Sonderbauteile aller Art</a:t>
            </a:r>
            <a:endParaRPr lang="en-US" sz="1800" dirty="0"/>
          </a:p>
        </p:txBody>
      </p:sp>
      <p:sp>
        <p:nvSpPr>
          <p:cNvPr id="54" name="Text 46"/>
          <p:cNvSpPr/>
          <p:nvPr/>
        </p:nvSpPr>
        <p:spPr>
          <a:xfrm>
            <a:off x="952500" y="7454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REFERENZKUNDEN (AUSWAHL)</a:t>
            </a:r>
            <a:endParaRPr lang="en-US" sz="1800" dirty="0"/>
          </a:p>
        </p:txBody>
      </p:sp>
      <p:sp>
        <p:nvSpPr>
          <p:cNvPr id="55" name="Shape 47"/>
          <p:cNvSpPr/>
          <p:nvPr/>
        </p:nvSpPr>
        <p:spPr>
          <a:xfrm>
            <a:off x="952500" y="7950200"/>
            <a:ext cx="16383000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6" name="Shape 48"/>
          <p:cNvSpPr/>
          <p:nvPr/>
        </p:nvSpPr>
        <p:spPr>
          <a:xfrm>
            <a:off x="952500" y="7950200"/>
            <a:ext cx="9525" cy="1384300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7" name="Shape 49"/>
          <p:cNvSpPr/>
          <p:nvPr/>
        </p:nvSpPr>
        <p:spPr>
          <a:xfrm>
            <a:off x="958850" y="8629650"/>
            <a:ext cx="2729409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8" name="Shape 50"/>
          <p:cNvSpPr/>
          <p:nvPr/>
        </p:nvSpPr>
        <p:spPr>
          <a:xfrm>
            <a:off x="3681909" y="7956550"/>
            <a:ext cx="9525" cy="679450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9" name="Text 51"/>
          <p:cNvSpPr/>
          <p:nvPr/>
        </p:nvSpPr>
        <p:spPr>
          <a:xfrm>
            <a:off x="1165559" y="8128000"/>
            <a:ext cx="23096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</a:t>
            </a:r>
            <a:endParaRPr lang="en-US" sz="2250" dirty="0"/>
          </a:p>
        </p:txBody>
      </p:sp>
      <p:sp>
        <p:nvSpPr>
          <p:cNvPr id="60" name="Shape 52"/>
          <p:cNvSpPr/>
          <p:nvPr/>
        </p:nvSpPr>
        <p:spPr>
          <a:xfrm>
            <a:off x="3688259" y="8629650"/>
            <a:ext cx="2729409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1" name="Shape 53"/>
          <p:cNvSpPr/>
          <p:nvPr/>
        </p:nvSpPr>
        <p:spPr>
          <a:xfrm>
            <a:off x="6411317" y="7956550"/>
            <a:ext cx="9525" cy="679450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2" name="Text 54"/>
          <p:cNvSpPr/>
          <p:nvPr/>
        </p:nvSpPr>
        <p:spPr>
          <a:xfrm>
            <a:off x="3894967" y="8128000"/>
            <a:ext cx="23096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</a:t>
            </a:r>
            <a:endParaRPr lang="en-US" sz="2250" dirty="0"/>
          </a:p>
        </p:txBody>
      </p:sp>
      <p:sp>
        <p:nvSpPr>
          <p:cNvPr id="63" name="Shape 55"/>
          <p:cNvSpPr/>
          <p:nvPr/>
        </p:nvSpPr>
        <p:spPr>
          <a:xfrm>
            <a:off x="6417668" y="8629650"/>
            <a:ext cx="2729508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4" name="Shape 56"/>
          <p:cNvSpPr/>
          <p:nvPr/>
        </p:nvSpPr>
        <p:spPr>
          <a:xfrm>
            <a:off x="9140825" y="7956550"/>
            <a:ext cx="9525" cy="679450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5" name="Text 57"/>
          <p:cNvSpPr/>
          <p:nvPr/>
        </p:nvSpPr>
        <p:spPr>
          <a:xfrm>
            <a:off x="6624375" y="8128000"/>
            <a:ext cx="230974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NZWL</a:t>
            </a:r>
            <a:endParaRPr lang="en-US" sz="2250" dirty="0"/>
          </a:p>
        </p:txBody>
      </p:sp>
      <p:sp>
        <p:nvSpPr>
          <p:cNvPr id="66" name="Shape 58"/>
          <p:cNvSpPr/>
          <p:nvPr/>
        </p:nvSpPr>
        <p:spPr>
          <a:xfrm>
            <a:off x="9147175" y="8629650"/>
            <a:ext cx="2729409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7" name="Shape 59"/>
          <p:cNvSpPr/>
          <p:nvPr/>
        </p:nvSpPr>
        <p:spPr>
          <a:xfrm>
            <a:off x="11870234" y="7956550"/>
            <a:ext cx="9525" cy="679450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8" name="Text 60"/>
          <p:cNvSpPr/>
          <p:nvPr/>
        </p:nvSpPr>
        <p:spPr>
          <a:xfrm>
            <a:off x="9353884" y="8128000"/>
            <a:ext cx="23096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Magna</a:t>
            </a:r>
            <a:endParaRPr lang="en-US" sz="2250" dirty="0"/>
          </a:p>
        </p:txBody>
      </p:sp>
      <p:sp>
        <p:nvSpPr>
          <p:cNvPr id="69" name="Shape 61"/>
          <p:cNvSpPr/>
          <p:nvPr/>
        </p:nvSpPr>
        <p:spPr>
          <a:xfrm>
            <a:off x="11876584" y="8629650"/>
            <a:ext cx="2729409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0" name="Shape 62"/>
          <p:cNvSpPr/>
          <p:nvPr/>
        </p:nvSpPr>
        <p:spPr>
          <a:xfrm>
            <a:off x="14599643" y="7956550"/>
            <a:ext cx="9525" cy="679450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1" name="Text 63"/>
          <p:cNvSpPr/>
          <p:nvPr/>
        </p:nvSpPr>
        <p:spPr>
          <a:xfrm>
            <a:off x="12083293" y="8128000"/>
            <a:ext cx="23096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LINAMAR</a:t>
            </a:r>
            <a:endParaRPr lang="en-US" sz="2250" dirty="0"/>
          </a:p>
        </p:txBody>
      </p:sp>
      <p:sp>
        <p:nvSpPr>
          <p:cNvPr id="72" name="Shape 64"/>
          <p:cNvSpPr/>
          <p:nvPr/>
        </p:nvSpPr>
        <p:spPr>
          <a:xfrm>
            <a:off x="14605992" y="8629650"/>
            <a:ext cx="2729508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3" name="Shape 65"/>
          <p:cNvSpPr/>
          <p:nvPr/>
        </p:nvSpPr>
        <p:spPr>
          <a:xfrm>
            <a:off x="17329150" y="7956550"/>
            <a:ext cx="9525" cy="679450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4" name="Text 66"/>
          <p:cNvSpPr/>
          <p:nvPr/>
        </p:nvSpPr>
        <p:spPr>
          <a:xfrm>
            <a:off x="14812700" y="8128000"/>
            <a:ext cx="230974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Hirschvogel</a:t>
            </a:r>
            <a:endParaRPr lang="en-US" sz="2250" dirty="0"/>
          </a:p>
        </p:txBody>
      </p:sp>
      <p:sp>
        <p:nvSpPr>
          <p:cNvPr id="75" name="Shape 67"/>
          <p:cNvSpPr/>
          <p:nvPr/>
        </p:nvSpPr>
        <p:spPr>
          <a:xfrm>
            <a:off x="958850" y="9328150"/>
            <a:ext cx="2729409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6" name="Shape 68"/>
          <p:cNvSpPr/>
          <p:nvPr/>
        </p:nvSpPr>
        <p:spPr>
          <a:xfrm>
            <a:off x="3681909" y="8655050"/>
            <a:ext cx="9525" cy="679450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7" name="Text 69"/>
          <p:cNvSpPr/>
          <p:nvPr/>
        </p:nvSpPr>
        <p:spPr>
          <a:xfrm>
            <a:off x="1165559" y="8826500"/>
            <a:ext cx="23096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TEKFOR</a:t>
            </a:r>
            <a:endParaRPr lang="en-US" sz="2250" dirty="0"/>
          </a:p>
        </p:txBody>
      </p:sp>
      <p:sp>
        <p:nvSpPr>
          <p:cNvPr id="78" name="Shape 70"/>
          <p:cNvSpPr/>
          <p:nvPr/>
        </p:nvSpPr>
        <p:spPr>
          <a:xfrm>
            <a:off x="3688259" y="9328150"/>
            <a:ext cx="2729409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9" name="Shape 71"/>
          <p:cNvSpPr/>
          <p:nvPr/>
        </p:nvSpPr>
        <p:spPr>
          <a:xfrm>
            <a:off x="6411317" y="8655050"/>
            <a:ext cx="9525" cy="679450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0" name="Text 72"/>
          <p:cNvSpPr/>
          <p:nvPr/>
        </p:nvSpPr>
        <p:spPr>
          <a:xfrm>
            <a:off x="3894967" y="8826500"/>
            <a:ext cx="23096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Musashi</a:t>
            </a:r>
            <a:endParaRPr lang="en-US" sz="2250" dirty="0"/>
          </a:p>
        </p:txBody>
      </p:sp>
      <p:sp>
        <p:nvSpPr>
          <p:cNvPr id="81" name="Shape 73"/>
          <p:cNvSpPr/>
          <p:nvPr/>
        </p:nvSpPr>
        <p:spPr>
          <a:xfrm>
            <a:off x="6417668" y="9328150"/>
            <a:ext cx="2729508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2" name="Shape 74"/>
          <p:cNvSpPr/>
          <p:nvPr/>
        </p:nvSpPr>
        <p:spPr>
          <a:xfrm>
            <a:off x="9140825" y="8655050"/>
            <a:ext cx="9525" cy="679450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3" name="Text 75"/>
          <p:cNvSpPr/>
          <p:nvPr/>
        </p:nvSpPr>
        <p:spPr>
          <a:xfrm>
            <a:off x="6624375" y="8826500"/>
            <a:ext cx="230974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</a:t>
            </a:r>
            <a:endParaRPr lang="en-US" sz="2250" dirty="0"/>
          </a:p>
        </p:txBody>
      </p:sp>
      <p:sp>
        <p:nvSpPr>
          <p:cNvPr id="84" name="Shape 76"/>
          <p:cNvSpPr/>
          <p:nvPr/>
        </p:nvSpPr>
        <p:spPr>
          <a:xfrm>
            <a:off x="9147175" y="9328150"/>
            <a:ext cx="2729409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5" name="Shape 77"/>
          <p:cNvSpPr/>
          <p:nvPr/>
        </p:nvSpPr>
        <p:spPr>
          <a:xfrm>
            <a:off x="11870234" y="8655050"/>
            <a:ext cx="9525" cy="679450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6" name="Text 78"/>
          <p:cNvSpPr/>
          <p:nvPr/>
        </p:nvSpPr>
        <p:spPr>
          <a:xfrm>
            <a:off x="9353884" y="8826500"/>
            <a:ext cx="23096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Rexroth</a:t>
            </a:r>
            <a:endParaRPr lang="en-US" sz="2250" dirty="0"/>
          </a:p>
        </p:txBody>
      </p:sp>
      <p:sp>
        <p:nvSpPr>
          <p:cNvPr id="87" name="Shape 79"/>
          <p:cNvSpPr/>
          <p:nvPr/>
        </p:nvSpPr>
        <p:spPr>
          <a:xfrm>
            <a:off x="11876584" y="9328150"/>
            <a:ext cx="2729409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8" name="Shape 80"/>
          <p:cNvSpPr/>
          <p:nvPr/>
        </p:nvSpPr>
        <p:spPr>
          <a:xfrm>
            <a:off x="14599643" y="8655050"/>
            <a:ext cx="9525" cy="679450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9" name="Text 81"/>
          <p:cNvSpPr/>
          <p:nvPr/>
        </p:nvSpPr>
        <p:spPr>
          <a:xfrm>
            <a:off x="12083293" y="8826500"/>
            <a:ext cx="230964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Flender</a:t>
            </a:r>
            <a:endParaRPr lang="en-US" sz="2250" dirty="0"/>
          </a:p>
        </p:txBody>
      </p:sp>
      <p:sp>
        <p:nvSpPr>
          <p:cNvPr id="90" name="Shape 82"/>
          <p:cNvSpPr/>
          <p:nvPr/>
        </p:nvSpPr>
        <p:spPr>
          <a:xfrm>
            <a:off x="14605992" y="9328150"/>
            <a:ext cx="2729508" cy="9525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1" name="Shape 83"/>
          <p:cNvSpPr/>
          <p:nvPr/>
        </p:nvSpPr>
        <p:spPr>
          <a:xfrm>
            <a:off x="17329150" y="8655050"/>
            <a:ext cx="9525" cy="679450"/>
          </a:xfrm>
          <a:prstGeom prst="rect">
            <a:avLst/>
          </a:prstGeom>
          <a:solidFill>
            <a:srgbClr val="263B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2" name="Text 84"/>
          <p:cNvSpPr/>
          <p:nvPr/>
        </p:nvSpPr>
        <p:spPr>
          <a:xfrm>
            <a:off x="14812700" y="8826500"/>
            <a:ext cx="230974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 v. m.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312" y="0"/>
            <a:ext cx="18288000" cy="1028700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A4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PROZESSABLAUF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28750"/>
            <a:ext cx="16497300" cy="114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 err="1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Anfrage</a:t>
            </a:r>
            <a:r>
              <a:rPr lang="en-US" sz="42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bis </a:t>
            </a:r>
            <a:r>
              <a:rPr lang="en-US" sz="4200" b="1" dirty="0" err="1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</a:t>
            </a:r>
            <a:r>
              <a:rPr lang="en-US" sz="42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200" b="1" dirty="0" err="1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Lieferung</a:t>
            </a:r>
            <a:r>
              <a:rPr lang="en-US" sz="42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die Customer Journey 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48422" y="2669526"/>
            <a:ext cx="15263128" cy="1218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der Anfrage über Beratung, </a:t>
            </a:r>
            <a:r>
              <a:rPr lang="en-US" sz="2400" dirty="0" err="1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Prüfung</a:t>
            </a:r>
            <a:r>
              <a:rPr lang="en-US" sz="240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der </a:t>
            </a:r>
            <a:r>
              <a:rPr lang="en-US" sz="2400" dirty="0" err="1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technischen</a:t>
            </a:r>
            <a:r>
              <a:rPr lang="en-US" sz="240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Machbarkeit</a:t>
            </a:r>
            <a:r>
              <a:rPr lang="en-US" sz="240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dem </a:t>
            </a:r>
            <a:r>
              <a:rPr lang="en-US" sz="2400" dirty="0" err="1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Angebot</a:t>
            </a:r>
            <a:r>
              <a:rPr lang="en-US" sz="240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 der </a:t>
            </a:r>
            <a:r>
              <a:rPr lang="en-US" sz="2400" dirty="0" err="1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Wärmebehandlung</a:t>
            </a:r>
            <a:r>
              <a:rPr lang="en-US" sz="240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</a:t>
            </a:r>
            <a:r>
              <a:rPr lang="en-US" sz="240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Kundenspezifikation</a:t>
            </a:r>
            <a:r>
              <a:rPr lang="en-US" sz="2400" dirty="0">
                <a:solidFill>
                  <a:srgbClr val="B9C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bis zur termintreuen Lieferung – jeder Schritt begleitet und dokumentiert.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2500" y="4960938"/>
            <a:ext cx="117627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ANFRAGE &amp; ANGEBOT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2500" y="5322888"/>
            <a:ext cx="10693401" cy="28575"/>
          </a:xfrm>
          <a:prstGeom prst="rect">
            <a:avLst/>
          </a:prstGeom>
          <a:solidFill>
            <a:srgbClr val="35506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1874501" y="4960938"/>
            <a:ext cx="60071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b="1" kern="0" spc="180" dirty="0">
                <a:solidFill>
                  <a:srgbClr val="7A8B95"/>
                </a:solidFill>
                <a:latin typeface="Arial" pitchFamily="34" charset="0"/>
                <a:cs typeface="Arial" pitchFamily="34" charset="-120"/>
              </a:rPr>
              <a:t>AUSFÜHRUNG &amp; LIEFERUNG</a:t>
            </a:r>
          </a:p>
        </p:txBody>
      </p:sp>
      <p:sp>
        <p:nvSpPr>
          <p:cNvPr id="9" name="Shape 7"/>
          <p:cNvSpPr/>
          <p:nvPr/>
        </p:nvSpPr>
        <p:spPr>
          <a:xfrm>
            <a:off x="11874501" y="5322888"/>
            <a:ext cx="5461000" cy="28575"/>
          </a:xfrm>
          <a:prstGeom prst="rect">
            <a:avLst/>
          </a:prstGeom>
          <a:solidFill>
            <a:srgbClr val="A430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1869877" y="7392988"/>
            <a:ext cx="14548247" cy="28575"/>
          </a:xfrm>
          <a:prstGeom prst="rect">
            <a:avLst/>
          </a:prstGeom>
          <a:solidFill>
            <a:srgbClr val="35506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1493243" y="7078663"/>
            <a:ext cx="679450" cy="679450"/>
          </a:xfrm>
          <a:prstGeom prst="ellipse">
            <a:avLst/>
          </a:prstGeom>
          <a:solidFill>
            <a:srgbClr val="0E1E2E"/>
          </a:solidFill>
          <a:ln w="25400">
            <a:solidFill>
              <a:srgbClr val="A4302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485897" y="7078663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39978" y="8229600"/>
            <a:ext cx="19859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Anfrage &amp; Anforderungen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3313510" y="7078663"/>
            <a:ext cx="679450" cy="679450"/>
          </a:xfrm>
          <a:prstGeom prst="ellipse">
            <a:avLst/>
          </a:prstGeom>
          <a:solidFill>
            <a:srgbClr val="0E1E2E"/>
          </a:solidFill>
          <a:ln w="25400">
            <a:solidFill>
              <a:srgbClr val="A4302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318864" y="7078663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922875" y="6024562"/>
            <a:ext cx="1548440" cy="1507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Beratung zur Spezifikation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5146576" y="7078663"/>
            <a:ext cx="679450" cy="679450"/>
          </a:xfrm>
          <a:prstGeom prst="ellipse">
            <a:avLst/>
          </a:prstGeom>
          <a:solidFill>
            <a:srgbClr val="A4302F"/>
          </a:solidFill>
          <a:ln w="25400">
            <a:solidFill>
              <a:srgbClr val="A4302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139230" y="7078663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661308" y="8234363"/>
            <a:ext cx="1649986" cy="941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 err="1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</a:t>
            </a: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75" b="1" dirty="0" err="1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Simulation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6966844" y="7078663"/>
            <a:ext cx="679450" cy="679450"/>
          </a:xfrm>
          <a:prstGeom prst="ellipse">
            <a:avLst/>
          </a:prstGeom>
          <a:solidFill>
            <a:srgbClr val="0E1E2E"/>
          </a:solidFill>
          <a:ln w="25400">
            <a:solidFill>
              <a:srgbClr val="A4302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971110" y="7078663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678659" y="6024563"/>
            <a:ext cx="15022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Kalkulation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8787210" y="7078663"/>
            <a:ext cx="679450" cy="679450"/>
          </a:xfrm>
          <a:prstGeom prst="ellipse">
            <a:avLst/>
          </a:prstGeom>
          <a:solidFill>
            <a:srgbClr val="0E1E2E"/>
          </a:solidFill>
          <a:ln w="25400">
            <a:solidFill>
              <a:srgbClr val="A4302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8791476" y="7078663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563025" y="8229600"/>
            <a:ext cx="11617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 err="1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Angebot</a:t>
            </a: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0624542" y="7078663"/>
            <a:ext cx="679450" cy="679450"/>
          </a:xfrm>
          <a:prstGeom prst="ellipse">
            <a:avLst/>
          </a:prstGeom>
          <a:solidFill>
            <a:srgbClr val="A4302F"/>
          </a:solidFill>
          <a:ln w="25400">
            <a:solidFill>
              <a:srgbClr val="A4302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10611842" y="7078663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F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113909" y="6024563"/>
            <a:ext cx="186219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 err="1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Technologische</a:t>
            </a: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Klärung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2432110" y="7077076"/>
            <a:ext cx="679450" cy="679450"/>
          </a:xfrm>
          <a:prstGeom prst="ellipse">
            <a:avLst/>
          </a:prstGeom>
          <a:solidFill>
            <a:srgbClr val="0E1E2E"/>
          </a:solidFill>
          <a:ln w="25400">
            <a:solidFill>
              <a:srgbClr val="A4302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12432110" y="7104063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2126938" y="8228013"/>
            <a:ext cx="132109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Wärme- behandlung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4265176" y="7078663"/>
            <a:ext cx="679450" cy="679450"/>
          </a:xfrm>
          <a:prstGeom prst="ellipse">
            <a:avLst/>
          </a:prstGeom>
          <a:solidFill>
            <a:srgbClr val="A4302F"/>
          </a:solidFill>
          <a:ln w="25400">
            <a:solidFill>
              <a:srgbClr val="A4302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14252476" y="7078663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3858479" y="6024563"/>
            <a:ext cx="164998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Laborprüfung &amp; </a:t>
            </a:r>
            <a:r>
              <a:rPr lang="en-US" sz="1875" b="1" dirty="0" err="1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Dokumentation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6085543" y="7078663"/>
            <a:ext cx="679450" cy="679450"/>
          </a:xfrm>
          <a:prstGeom prst="ellipse">
            <a:avLst/>
          </a:prstGeom>
          <a:solidFill>
            <a:srgbClr val="0E1E2E"/>
          </a:solidFill>
          <a:ln w="25400">
            <a:solidFill>
              <a:srgbClr val="A4302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16072843" y="7078663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5890677" y="8229601"/>
            <a:ext cx="10691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Lieferung</a:t>
            </a:r>
            <a:endParaRPr lang="en-US" sz="18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700" y="-6056"/>
            <a:ext cx="18288000" cy="10287000"/>
          </a:xfrm>
          <a:prstGeom prst="rect">
            <a:avLst/>
          </a:prstGeom>
          <a:solidFill>
            <a:srgbClr val="12243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952500" y="1470674"/>
            <a:ext cx="12833350" cy="10506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E7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Lassen Sie uns Ihre Ziele gemeinsam erreichen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2810867"/>
            <a:ext cx="12591574" cy="1051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Senden Sie uns </a:t>
            </a:r>
            <a:r>
              <a:rPr lang="en-US" sz="2400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Ihre</a:t>
            </a:r>
            <a:r>
              <a:rPr lang="en-US" sz="24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Anfrage</a:t>
            </a:r>
            <a:r>
              <a:rPr lang="en-US" sz="24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400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</a:t>
            </a:r>
            <a:r>
              <a:rPr lang="en-US" sz="24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Zeichnung</a:t>
            </a:r>
            <a:r>
              <a:rPr lang="en-US" sz="24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oder ein Musterteil – wir empfehlen das </a:t>
            </a:r>
            <a:r>
              <a:rPr lang="en-US" sz="2400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passende</a:t>
            </a:r>
            <a:r>
              <a:rPr lang="en-US" sz="24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Verfahren</a:t>
            </a:r>
            <a:r>
              <a:rPr lang="en-US" sz="24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400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</a:t>
            </a:r>
            <a:r>
              <a:rPr lang="en-US" sz="24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Ihren</a:t>
            </a:r>
            <a:r>
              <a:rPr lang="en-US" sz="24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Bedürfnissen</a:t>
            </a:r>
            <a:r>
              <a:rPr lang="en-US" sz="24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 erstellen Ihr Angebot.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" y="6405345"/>
            <a:ext cx="3852863" cy="19050"/>
          </a:xfrm>
          <a:prstGeom prst="rect">
            <a:avLst/>
          </a:prstGeom>
          <a:solidFill>
            <a:srgbClr val="35506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952500" y="6672045"/>
            <a:ext cx="4238149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Silvio Richtsteiger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952500" y="7021296"/>
            <a:ext cx="42381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Geschäftsführer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952500" y="7440396"/>
            <a:ext cx="3968448" cy="738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725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+49 341 44 72 600 silvio.richtsteiger@hqm-gruppe.de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5129213" y="6405345"/>
            <a:ext cx="3852863" cy="19050"/>
          </a:xfrm>
          <a:prstGeom prst="rect">
            <a:avLst/>
          </a:prstGeom>
          <a:solidFill>
            <a:srgbClr val="35506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129213" y="6672045"/>
            <a:ext cx="4238149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Carsten Klinke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5129213" y="7021296"/>
            <a:ext cx="42381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Produktmanagement &amp; Vertrieb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5129213" y="7440396"/>
            <a:ext cx="3968448" cy="738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725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+49 151 55343781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725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carsten.klinke@hqm-gruppe.de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9305925" y="6405345"/>
            <a:ext cx="3852863" cy="19050"/>
          </a:xfrm>
          <a:prstGeom prst="rect">
            <a:avLst/>
          </a:prstGeom>
          <a:solidFill>
            <a:srgbClr val="35506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9305925" y="6672045"/>
            <a:ext cx="4238149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Stefanie Hetzel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9305925" y="7021296"/>
            <a:ext cx="42381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Vertriebsassistenz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9305925" y="7440396"/>
            <a:ext cx="3968448" cy="738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725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+49 341 44 72 679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725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stefanie.hetzel@hqm-gruppe.de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3482638" y="6405345"/>
            <a:ext cx="3852863" cy="19050"/>
          </a:xfrm>
          <a:prstGeom prst="rect">
            <a:avLst/>
          </a:prstGeom>
          <a:solidFill>
            <a:srgbClr val="35506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13482638" y="6672045"/>
            <a:ext cx="4238149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 Bienengräber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13482638" y="7021296"/>
            <a:ext cx="42381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 err="1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Werkleitung</a:t>
            </a:r>
            <a:r>
              <a:rPr lang="en-US" sz="1725" b="1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25" b="1" dirty="0" err="1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Standort</a:t>
            </a:r>
            <a:r>
              <a:rPr lang="en-US" sz="1725" b="1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Wuppertal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13482638" y="7440396"/>
            <a:ext cx="3968448" cy="1089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725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+49 202 24 64 19 michael.bienengraeber@hqm-gruppe.de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952500" y="8750044"/>
            <a:ext cx="1384300" cy="738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HQM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2336800" y="8888233"/>
            <a:ext cx="3841750" cy="598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00" kern="0" spc="630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HÄRTETECHNIK</a:t>
            </a:r>
            <a:endParaRPr lang="en-US" sz="2800" dirty="0"/>
          </a:p>
        </p:txBody>
      </p:sp>
      <p:sp>
        <p:nvSpPr>
          <p:cNvPr id="25" name="Text 23">
            <a:hlinkClick r:id="rId3"/>
          </p:cNvPr>
          <p:cNvSpPr/>
          <p:nvPr/>
        </p:nvSpPr>
        <p:spPr>
          <a:xfrm>
            <a:off x="5600691" y="4504752"/>
            <a:ext cx="5499109" cy="860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u="sng" dirty="0">
                <a:solidFill>
                  <a:srgbClr val="E27A5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www.hqm-haertetechnik.de</a:t>
            </a:r>
            <a:endParaRPr lang="en-US" sz="32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EAD51B88-3D59-A062-7107-76AD87CB5971}"/>
              </a:ext>
            </a:extLst>
          </p:cNvPr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A4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KONTAKT ZU UNS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1467</Words>
  <Application>Microsoft Office PowerPoint</Application>
  <PresentationFormat>Benutzerdefiniert</PresentationFormat>
  <Paragraphs>301</Paragraphs>
  <Slides>18</Slides>
  <Notes>18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Bienengräber</cp:lastModifiedBy>
  <cp:revision>20</cp:revision>
  <dcterms:created xsi:type="dcterms:W3CDTF">2026-07-05T16:20:48Z</dcterms:created>
  <dcterms:modified xsi:type="dcterms:W3CDTF">2026-09-08T13:44:57Z</dcterms:modified>
</cp:coreProperties>
</file>